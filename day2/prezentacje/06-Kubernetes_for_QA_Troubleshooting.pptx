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5.jpeg" ContentType="image/jpeg"/>
  <Override PartName="/ppt/media/image14.jpeg" ContentType="image/jpeg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12.jpeg" ContentType="image/jpeg"/>
  <Override PartName="/ppt/media/image10.jpeg" ContentType="image/jpeg"/>
  <Override PartName="/ppt/media/image8.jpeg" ContentType="image/jpeg"/>
  <Override PartName="/ppt/media/image13.jpeg" ContentType="image/jpeg"/>
  <Override PartName="/ppt/presProps.xml" ContentType="application/vnd.openxmlformats-officedocument.presentationml.presPro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024D3C-032D-48C4-B4BB-C9EB07CDF4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419E5D-C960-4C98-AEDD-066212174D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1F45A5-275E-417C-BB8D-75FA079254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D5ADD7-974B-41D5-9522-0717878915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C4CD77-E9EF-47D9-8244-127EE8D759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133F5A-FB09-4642-A53A-1DBF16A92E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335386-A3DF-4104-A131-0D9D754511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14EFC9-11A4-476F-8D76-6D5E1527D0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D5112B-2098-4BB0-B28F-29A55DC5E3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2C5868-11CE-4EB3-BC51-A183BA5E6C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A20163-FD46-416C-964F-F420A0D5F1E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34266D-035B-4FCD-A99F-8019DBD84BF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&lt;data/godzina&gt;</a:t>
            </a:r>
            <a:endParaRPr b="0" lang="pl-PL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l-PL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l-PL" sz="1400" spc="-1" strike="noStrike">
                <a:latin typeface="Times New Roman"/>
              </a:rPr>
              <a:t>&lt;stopka&gt;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9912918-B6EB-4431-B61D-DCF5D98B5C1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Kliknij, aby edytować format tekstu tytułu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Drugi poziom konspektu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Trzeci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Czwarty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Piąty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Szósty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Siódmy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3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4" name="TextBox 4"/>
          <p:cNvSpPr/>
          <p:nvPr/>
        </p:nvSpPr>
        <p:spPr>
          <a:xfrm>
            <a:off x="1005840" y="141732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4200" spc="-1" strike="noStrike">
                <a:solidFill>
                  <a:srgbClr val="f6e540"/>
                </a:solidFill>
                <a:latin typeface="Arial"/>
              </a:rPr>
              <a:t>Troubleshooting w Kubernetes</a:t>
            </a:r>
            <a:endParaRPr b="0" lang="pl-PL" sz="42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1463040" y="2240280"/>
            <a:ext cx="9326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Logi, eventy, opis obiektów i pierwszy workflow diagnostyczny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46" name="Rounded Rectangle 6"/>
          <p:cNvSpPr/>
          <p:nvPr/>
        </p:nvSpPr>
        <p:spPr>
          <a:xfrm>
            <a:off x="2743200" y="3794760"/>
            <a:ext cx="6674760" cy="8683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describe pod &lt;pod-name&gt;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0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Cel modułu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1554480" y="1828800"/>
            <a:ext cx="9143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umieć szybko sprawdzić stan aplikacji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wiedzieć, gdzie Kubernetes zapisuje informacje o problemie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czytać logi aplikacji i eventy klastra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odróżnić problem aplikacji od problemu konfiguracji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zbudować prosty workflow diagnostyczny dla QA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3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54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5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Od czego zaczynamy?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6" name="Rounded Rectangle 5"/>
          <p:cNvSpPr/>
          <p:nvPr/>
        </p:nvSpPr>
        <p:spPr>
          <a:xfrm>
            <a:off x="868680" y="182880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status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57" name="Rounded Rectangle 6"/>
          <p:cNvSpPr/>
          <p:nvPr/>
        </p:nvSpPr>
        <p:spPr>
          <a:xfrm>
            <a:off x="3154680" y="182880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2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opis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58" name="Rounded Rectangle 7"/>
          <p:cNvSpPr/>
          <p:nvPr/>
        </p:nvSpPr>
        <p:spPr>
          <a:xfrm>
            <a:off x="5440680" y="182880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3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logi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59" name="Rounded Rectangle 8"/>
          <p:cNvSpPr/>
          <p:nvPr/>
        </p:nvSpPr>
        <p:spPr>
          <a:xfrm>
            <a:off x="7726680" y="182880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4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eventy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60" name="Rounded Rectangle 9"/>
          <p:cNvSpPr/>
          <p:nvPr/>
        </p:nvSpPr>
        <p:spPr>
          <a:xfrm>
            <a:off x="10012680" y="1828800"/>
            <a:ext cx="132552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5</a:t>
            </a:r>
            <a:endParaRPr b="0" lang="pl-PL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test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1097280" y="3337560"/>
            <a:ext cx="9966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5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Najpierw sprawdzamy objaw, potem szukamy przyczyny w szczegółach i logach.</a:t>
            </a:r>
            <a:endParaRPr b="0" lang="pl-PL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64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65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Pierwsze spojrzenie: get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66" name="Rounded Rectangle 5"/>
          <p:cNvSpPr/>
          <p:nvPr/>
        </p:nvSpPr>
        <p:spPr>
          <a:xfrm>
            <a:off x="1097280" y="1828800"/>
            <a:ext cx="9966600" cy="12340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get pods -o wide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get all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67" name="TextBox 6"/>
          <p:cNvSpPr/>
          <p:nvPr/>
        </p:nvSpPr>
        <p:spPr>
          <a:xfrm>
            <a:off x="1645920" y="3657600"/>
            <a:ext cx="8686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2000"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czy Pod istnieje?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jaki ma status?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czy ma przypisany node i IP?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czy Deployment utworzył oczekiwaną liczbę Podów?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0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71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Typowe statusy Podów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72" name="Rounded Rectangle 5"/>
          <p:cNvSpPr/>
          <p:nvPr/>
        </p:nvSpPr>
        <p:spPr>
          <a:xfrm>
            <a:off x="960120" y="1737360"/>
            <a:ext cx="205704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Running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3246120" y="185616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kontener działa, ale aplikacja nadal może być niedostępna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74" name="Rounded Rectangle 7"/>
          <p:cNvSpPr/>
          <p:nvPr/>
        </p:nvSpPr>
        <p:spPr>
          <a:xfrm>
            <a:off x="960120" y="2651760"/>
            <a:ext cx="205704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Pending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3246120" y="277056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Pod czeka na zasoby, scheduler albo wolumen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76" name="Rounded Rectangle 9"/>
          <p:cNvSpPr/>
          <p:nvPr/>
        </p:nvSpPr>
        <p:spPr>
          <a:xfrm>
            <a:off x="960120" y="3566160"/>
            <a:ext cx="205704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f7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ImagePullBackOff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3246120" y="368496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problem z pobraniem obrazu kontenera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78" name="Rounded Rectangle 11"/>
          <p:cNvSpPr/>
          <p:nvPr/>
        </p:nvSpPr>
        <p:spPr>
          <a:xfrm>
            <a:off x="960120" y="4480560"/>
            <a:ext cx="205704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f7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CrashLoopBackOff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3246120" y="459936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aplikacja startuje i zaraz się kończy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82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83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describe pod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84" name="Rounded Rectangle 5"/>
          <p:cNvSpPr/>
          <p:nvPr/>
        </p:nvSpPr>
        <p:spPr>
          <a:xfrm>
            <a:off x="1097280" y="1828800"/>
            <a:ext cx="9966600" cy="82260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600" spc="-1" strike="noStrike">
                <a:solidFill>
                  <a:srgbClr val="ffffff"/>
                </a:solidFill>
                <a:latin typeface="Courier New"/>
              </a:rPr>
              <a:t>kubectl describe pod &lt;pod-name&gt;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1554480" y="3063240"/>
            <a:ext cx="89607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szczegóły Poda i kontenerów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zmienne środowiskowe, wolumeny, readiness/liveness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ostatnie eventy związane z Podem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powód, dlaczego Pod nie wystartował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88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89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Eventy: co mówi Kubernetes?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90" name="Rounded Rectangle 5"/>
          <p:cNvSpPr/>
          <p:nvPr/>
        </p:nvSpPr>
        <p:spPr>
          <a:xfrm>
            <a:off x="1097280" y="1828800"/>
            <a:ext cx="10242720" cy="10054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events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events --sort-by=.metadata.creationTimestamp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91" name="TextBox 6"/>
          <p:cNvSpPr/>
          <p:nvPr/>
        </p:nvSpPr>
        <p:spPr>
          <a:xfrm>
            <a:off x="1371600" y="3337560"/>
            <a:ext cx="9417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Eventy często mówią wprost: obraz nie istnieje, Secret nie znaleziony, probe nie przechodzi.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92" name="Rounded Rectangle 7"/>
          <p:cNvSpPr/>
          <p:nvPr/>
        </p:nvSpPr>
        <p:spPr>
          <a:xfrm>
            <a:off x="1828800" y="4343400"/>
            <a:ext cx="8503560" cy="6397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Warning  Failed  Error: secret "db-secret" not found</a:t>
            </a:r>
            <a:endParaRPr b="0" lang="pl-PL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95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6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Logi aplikacji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97" name="Rounded Rectangle 5"/>
          <p:cNvSpPr/>
          <p:nvPr/>
        </p:nvSpPr>
        <p:spPr>
          <a:xfrm>
            <a:off x="1097280" y="1783080"/>
            <a:ext cx="9966600" cy="11426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logs &lt;pod-name&gt;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logs deployment/&lt;deployment-name&gt;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logs -f &lt;pod-name&gt;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1371600" y="3429000"/>
            <a:ext cx="9417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Logi odpowiadają na pytanie: co mówi sama aplikacja?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2011680" y="4343400"/>
            <a:ext cx="8046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54000"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błędy startu aplikacji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brak konfiguracji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problemy z połączeniem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informacje diagnostyczne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02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03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Poprzedni kontener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04" name="Rounded Rectangle 5"/>
          <p:cNvSpPr/>
          <p:nvPr/>
        </p:nvSpPr>
        <p:spPr>
          <a:xfrm>
            <a:off x="1097280" y="1874520"/>
            <a:ext cx="9966600" cy="82260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600" spc="-1" strike="noStrike">
                <a:solidFill>
                  <a:srgbClr val="ffffff"/>
                </a:solidFill>
                <a:latin typeface="Courier New"/>
              </a:rPr>
              <a:t>kubectl logs &lt;pod-name&gt; --previous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105" name="TextBox 6"/>
          <p:cNvSpPr/>
          <p:nvPr/>
        </p:nvSpPr>
        <p:spPr>
          <a:xfrm>
            <a:off x="1280160" y="310896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5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Przy restartach kontenera aktualne logi mogą być puste.</a:t>
            </a:r>
            <a:endParaRPr b="0" lang="pl-PL" sz="23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Wtedy sprawdzamy logi poprzedniej próby uruchomienia.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08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09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exec: wejście do kontenera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0" name="Rounded Rectangle 5"/>
          <p:cNvSpPr/>
          <p:nvPr/>
        </p:nvSpPr>
        <p:spPr>
          <a:xfrm>
            <a:off x="1097280" y="1737360"/>
            <a:ext cx="9966600" cy="105120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exec -it &lt;pod-name&gt; -- sh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exec -it &lt;pod-name&gt; -- bash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11" name="TextBox 6"/>
          <p:cNvSpPr/>
          <p:nvPr/>
        </p:nvSpPr>
        <p:spPr>
          <a:xfrm>
            <a:off x="1554480" y="3246120"/>
            <a:ext cx="90522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3000"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sprawdzenie plików konfiguracyjnych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test DNS z wnętrza Poda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sprawdzenie zmiennych środowiskowych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szybka diagnostyka bez przebudowy obrazu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14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5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Aplikacja działa, ale nie odpowiada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6" name="Rounded Rectangle 5"/>
          <p:cNvSpPr/>
          <p:nvPr/>
        </p:nvSpPr>
        <p:spPr>
          <a:xfrm>
            <a:off x="1005840" y="1691640"/>
            <a:ext cx="10149480" cy="12340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get svc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describe svc &lt;service-name&gt;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get endpoints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1188720" y="3429000"/>
            <a:ext cx="9875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3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Jeśli Service nie ma endpointów, zwykle selector nie pasuje do labeli Poda.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18" name="Rounded Rectangle 7"/>
          <p:cNvSpPr/>
          <p:nvPr/>
        </p:nvSpPr>
        <p:spPr>
          <a:xfrm>
            <a:off x="1828800" y="4572000"/>
            <a:ext cx="2468520" cy="5025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Service selector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4663440" y="46087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5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400" spc="-1" strike="noStrike">
                <a:solidFill>
                  <a:srgbClr val="00c2ae"/>
                </a:solidFill>
                <a:latin typeface="Arial"/>
              </a:rPr>
              <a:t>→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20" name="Rounded Rectangle 9"/>
          <p:cNvSpPr/>
          <p:nvPr/>
        </p:nvSpPr>
        <p:spPr>
          <a:xfrm>
            <a:off x="5577840" y="4572000"/>
            <a:ext cx="2468520" cy="5025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Pod labels</a:t>
            </a:r>
            <a:endParaRPr b="0" lang="pl-PL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23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24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Port-forward jako test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25" name="Rounded Rectangle 5"/>
          <p:cNvSpPr/>
          <p:nvPr/>
        </p:nvSpPr>
        <p:spPr>
          <a:xfrm>
            <a:off x="1097280" y="1874520"/>
            <a:ext cx="9966600" cy="10054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port-forward svc/qa-web 8080:80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curl http://localhost:8080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1280160" y="3429000"/>
            <a:ext cx="9600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0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To szybki sposób sprawdzenia aplikacji bez Ingressa, LoadBalancera i DNS.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2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30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Workflow diagnostyczny QA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31" name="Rounded Rectangle 5"/>
          <p:cNvSpPr/>
          <p:nvPr/>
        </p:nvSpPr>
        <p:spPr>
          <a:xfrm>
            <a:off x="914400" y="1645920"/>
            <a:ext cx="10332360" cy="28342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describe pod &lt;pod-name&gt;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logs &lt;pod-name&gt;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get events --sort-by=.metadata.creationTimestamp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get svc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get endpoints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port-forward svc/&lt;service-name&gt; 8080:80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1280160" y="48920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8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Ten zestaw komend wystarcza do większości pierwszych analiz problemów aplikacyjnych.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35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36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Mini lab: diagnoza krok po kroku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37" name="TextBox 5"/>
          <p:cNvSpPr/>
          <p:nvPr/>
        </p:nvSpPr>
        <p:spPr>
          <a:xfrm>
            <a:off x="1280160" y="1691640"/>
            <a:ext cx="96008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uruchamiamy aplikację nginx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sprawdzamy Pody, Service i endpointy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generujemy ruch przez port-forward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czytamy logi nginx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usuwamy Poda i obserwujemy self-healing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38" name="Rounded Rectangle 6"/>
          <p:cNvSpPr/>
          <p:nvPr/>
        </p:nvSpPr>
        <p:spPr>
          <a:xfrm>
            <a:off x="1828800" y="4572000"/>
            <a:ext cx="8503560" cy="7768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delete pod &lt;pod-name&gt;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41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42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Do zapamiętania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43" name="Rounded Rectangle 5"/>
          <p:cNvSpPr/>
          <p:nvPr/>
        </p:nvSpPr>
        <p:spPr>
          <a:xfrm>
            <a:off x="960120" y="1874520"/>
            <a:ext cx="228564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get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44" name="Rounded Rectangle 6"/>
          <p:cNvSpPr/>
          <p:nvPr/>
        </p:nvSpPr>
        <p:spPr>
          <a:xfrm>
            <a:off x="3566160" y="1874520"/>
            <a:ext cx="228564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describe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45" name="Rounded Rectangle 7"/>
          <p:cNvSpPr/>
          <p:nvPr/>
        </p:nvSpPr>
        <p:spPr>
          <a:xfrm>
            <a:off x="6172200" y="1874520"/>
            <a:ext cx="228564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logs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46" name="Rounded Rectangle 8"/>
          <p:cNvSpPr/>
          <p:nvPr/>
        </p:nvSpPr>
        <p:spPr>
          <a:xfrm>
            <a:off x="8778240" y="1874520"/>
            <a:ext cx="228564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events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47" name="TextBox 9"/>
          <p:cNvSpPr/>
          <p:nvPr/>
        </p:nvSpPr>
        <p:spPr>
          <a:xfrm>
            <a:off x="1188720" y="3520440"/>
            <a:ext cx="9875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6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600" spc="-1" strike="noStrike">
                <a:solidFill>
                  <a:srgbClr val="ffffff"/>
                </a:solidFill>
                <a:latin typeface="Arial"/>
              </a:rPr>
              <a:t>Najpierw status, potem szczegóły, potem logi.</a:t>
            </a:r>
            <a:endParaRPr b="0" lang="pl-PL" sz="26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600" spc="-1" strike="noStrike">
                <a:solidFill>
                  <a:srgbClr val="ffffff"/>
                </a:solidFill>
                <a:latin typeface="Arial"/>
              </a:rPr>
              <a:t>Dopiero później zmieniamy konfigurację.</a:t>
            </a:r>
            <a:endParaRPr b="0" lang="pl-PL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2026-06-09T22:15:12Z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