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10.jpeg" ContentType="image/jpeg"/>
  <Override PartName="/ppt/media/image6.jpeg" ContentType="image/jpeg"/>
  <Override PartName="/ppt/media/image11.jpeg" ContentType="image/jpeg"/>
  <Override PartName="/ppt/media/image7.jpeg" ContentType="image/jpeg"/>
  <Override PartName="/ppt/media/image12.jpeg" ContentType="image/jpeg"/>
  <Override PartName="/ppt/media/image8.jpeg" ContentType="image/jpeg"/>
  <Override PartName="/ppt/media/image13.jpeg" ContentType="image/jpeg"/>
  <Override PartName="/ppt/media/image9.jpeg" ContentType="image/jpeg"/>
  <Override PartName="/ppt/presProps.xml" ContentType="application/vnd.openxmlformats-officedocument.presentationml.presPro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692864-E017-47AF-9647-60B21D20F9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BD01BB-9905-4E37-B0CF-83F0DB89C5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CEEEE9-1A08-47D9-ADE8-7B18F41D02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ACFE29-1E23-4E96-8BF3-0E8BAFD0EC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7FCDFE-DF9C-498A-9DC3-059C703E48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54DCBD-8CEE-4E5A-82AE-B95A1833B9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231444-787B-491B-BE57-1AA4186DD7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3D5E05-C6A2-4C51-974D-3FB23DD9CB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88D22B-8D90-4371-B426-531F99B0FC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517E2C-87C5-4E75-B78E-97CB9A6EA1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096139-FA99-4C9B-B158-F852F6C68C9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521CE9-DCA9-48FB-AB6E-AA8ED504AAB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&lt;data/godzina&gt;</a:t>
            </a:r>
            <a:endParaRPr b="0" lang="pl-PL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pl-PL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l-PL" sz="1400" spc="-1" strike="noStrike">
                <a:latin typeface="Times New Roman"/>
              </a:rPr>
              <a:t>&lt;stopka&gt;</a:t>
            </a:r>
            <a:endParaRPr b="0" lang="pl-PL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25E60EF-4774-4B7B-9602-02507EE9397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Kliknij, aby edytować format tekstu tytułu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Kliknij, aby edytować format tekstu konspektu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Drugi poziom konspektu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Trzeci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Czwarty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Piąty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Szósty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Siódmy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43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44" name="TextBox 4"/>
          <p:cNvSpPr/>
          <p:nvPr/>
        </p:nvSpPr>
        <p:spPr>
          <a:xfrm>
            <a:off x="914400" y="1508760"/>
            <a:ext cx="10332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5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4400" spc="-1" strike="noStrike">
                <a:solidFill>
                  <a:srgbClr val="f6e540"/>
                </a:solidFill>
                <a:latin typeface="Arial"/>
              </a:rPr>
              <a:t>Wady i zalety Kubernetes</a:t>
            </a:r>
            <a:endParaRPr b="0" lang="pl-PL" sz="4400" spc="-1" strike="noStrike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1371600" y="2423160"/>
            <a:ext cx="9417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600" spc="-1" strike="noStrike">
                <a:solidFill>
                  <a:srgbClr val="ffffff"/>
                </a:solidFill>
                <a:latin typeface="Arial"/>
              </a:rPr>
              <a:t>Realistyczne spojrzenie z perspektywy QA</a:t>
            </a:r>
            <a:endParaRPr b="0" lang="pl-PL" sz="2600" spc="-1" strike="noStrike">
              <a:latin typeface="Arial"/>
            </a:endParaRPr>
          </a:p>
        </p:txBody>
      </p:sp>
      <p:sp>
        <p:nvSpPr>
          <p:cNvPr id="46" name="Rounded Rectangle 6"/>
          <p:cNvSpPr/>
          <p:nvPr/>
        </p:nvSpPr>
        <p:spPr>
          <a:xfrm>
            <a:off x="2520000" y="3840480"/>
            <a:ext cx="7020000" cy="82260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Kubernetes pomaga, ale nie jest magią.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48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49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50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Cel modułu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51" name="TextBox 5"/>
          <p:cNvSpPr/>
          <p:nvPr/>
        </p:nvSpPr>
        <p:spPr>
          <a:xfrm>
            <a:off x="1371600" y="1828800"/>
            <a:ext cx="9600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zrozumieć, dlaczego firmy używają Kubernetes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zobaczyć, jakie problemy Kubernetes rozwiązuje dobrze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nazwać koszty i trudności związane z platformą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wiedzieć, co jest istotne z perspektywy QA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odróżnić zalety technologii od realiów utrzymania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53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54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55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Co Kubernetes robi dobrze?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56" name="Rounded Rectangle 5"/>
          <p:cNvSpPr/>
          <p:nvPr/>
        </p:nvSpPr>
        <p:spPr>
          <a:xfrm>
            <a:off x="868680" y="1828800"/>
            <a:ext cx="2331360" cy="82260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self-healing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57" name="Rounded Rectangle 6"/>
          <p:cNvSpPr/>
          <p:nvPr/>
        </p:nvSpPr>
        <p:spPr>
          <a:xfrm>
            <a:off x="3566160" y="1828800"/>
            <a:ext cx="2331360" cy="82260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skalowanie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58" name="Rounded Rectangle 7"/>
          <p:cNvSpPr/>
          <p:nvPr/>
        </p:nvSpPr>
        <p:spPr>
          <a:xfrm>
            <a:off x="6263640" y="1828800"/>
            <a:ext cx="2331360" cy="82260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rollout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59" name="Rounded Rectangle 8"/>
          <p:cNvSpPr/>
          <p:nvPr/>
        </p:nvSpPr>
        <p:spPr>
          <a:xfrm>
            <a:off x="8961120" y="1828800"/>
            <a:ext cx="2331360" cy="82260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izolacja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60" name="TextBox 9"/>
          <p:cNvSpPr/>
          <p:nvPr/>
        </p:nvSpPr>
        <p:spPr>
          <a:xfrm>
            <a:off x="1280160" y="3703320"/>
            <a:ext cx="9600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0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</a:rPr>
              <a:t>Kubernetes jest dobry tam, gdzie aplikacje mają działać stale, powtarzalnie i w wielu środowiskach.</a:t>
            </a:r>
            <a:endParaRPr b="0" lang="pl-PL" sz="2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63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64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Zaleta: self-healing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65" name="Rounded Rectangle 5"/>
          <p:cNvSpPr/>
          <p:nvPr/>
        </p:nvSpPr>
        <p:spPr>
          <a:xfrm>
            <a:off x="1234440" y="1691640"/>
            <a:ext cx="9692280" cy="132552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600" spc="-1" strike="noStrike">
                <a:solidFill>
                  <a:srgbClr val="ffffff"/>
                </a:solidFill>
                <a:latin typeface="Courier New"/>
              </a:rPr>
              <a:t>kubectl delete pod &lt;pod-name&gt;</a:t>
            </a:r>
            <a:endParaRPr b="0" lang="pl-PL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600" spc="-1" strike="noStrike">
                <a:solidFill>
                  <a:srgbClr val="ffffff"/>
                </a:solidFill>
                <a:latin typeface="Courier New"/>
              </a:rPr>
              <a:t>kubectl get pods -w</a:t>
            </a:r>
            <a:endParaRPr b="0" lang="pl-PL" sz="2600" spc="-1" strike="noStrike"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1280160" y="3520440"/>
            <a:ext cx="9600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</a:rPr>
              <a:t>Jeśli Pod znika, Deployment pilnuje oczekiwanej liczby replik i tworzy nowy.</a:t>
            </a:r>
            <a:endParaRPr b="0" lang="pl-PL" sz="2500" spc="-1" strike="noStrike"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1645920" y="4754880"/>
            <a:ext cx="8960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dce6fa"/>
                </a:solidFill>
                <a:latin typeface="Arial"/>
              </a:rPr>
              <a:t>Dla QA: warto wiedzieć, czy problem jest trwały, czy platforma już go odtworzyła.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70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71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Zaleta: skalowanie i rollout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72" name="Rounded Rectangle 5"/>
          <p:cNvSpPr/>
          <p:nvPr/>
        </p:nvSpPr>
        <p:spPr>
          <a:xfrm>
            <a:off x="1097280" y="1691640"/>
            <a:ext cx="9966600" cy="159984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kubectl scale deployment qa-web --replicas=3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kubectl rollout status deployment/qa-web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kubectl rollout history deployment/qa-web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1645920" y="3794760"/>
            <a:ext cx="8777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000"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łatwe zwiększanie liczby replik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kontrolowane wdrażanie nowych wersji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możliwość obserwacji procesu rollout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76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77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Zaleta: deklaratywność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78" name="Rounded Rectangle 5"/>
          <p:cNvSpPr/>
          <p:nvPr/>
        </p:nvSpPr>
        <p:spPr>
          <a:xfrm>
            <a:off x="1097280" y="1737360"/>
            <a:ext cx="9966600" cy="105120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600" spc="-1" strike="noStrike">
                <a:solidFill>
                  <a:srgbClr val="ffffff"/>
                </a:solidFill>
                <a:latin typeface="Courier New"/>
              </a:rPr>
              <a:t>kubectl apply -f deployment.yaml</a:t>
            </a:r>
            <a:endParaRPr b="0" lang="pl-PL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600" spc="-1" strike="noStrike">
                <a:solidFill>
                  <a:srgbClr val="ffffff"/>
                </a:solidFill>
                <a:latin typeface="Courier New"/>
              </a:rPr>
              <a:t>kubectl apply -f service.yaml</a:t>
            </a:r>
            <a:endParaRPr b="0" lang="pl-PL" sz="2600" spc="-1" strike="noStrike">
              <a:latin typeface="Arial"/>
            </a:endParaRPr>
          </a:p>
        </p:txBody>
      </p:sp>
      <p:sp>
        <p:nvSpPr>
          <p:cNvPr id="79" name="TextBox 6"/>
          <p:cNvSpPr/>
          <p:nvPr/>
        </p:nvSpPr>
        <p:spPr>
          <a:xfrm>
            <a:off x="1234440" y="3246120"/>
            <a:ext cx="9783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3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Opisujemy oczekiwany stan w YAML, a Kubernetes próbuje doprowadzić środowisko do tego stanu.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80" name="TextBox 7"/>
          <p:cNvSpPr/>
          <p:nvPr/>
        </p:nvSpPr>
        <p:spPr>
          <a:xfrm>
            <a:off x="1645920" y="4572000"/>
            <a:ext cx="8960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dce6fa"/>
                </a:solidFill>
                <a:latin typeface="Arial"/>
              </a:rPr>
              <a:t>Dla QA: łatwiej porównać środowiska, bo konfiguracja jest jawna.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83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84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Zaleta: izolacja środowisk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85" name="Rounded Rectangle 5"/>
          <p:cNvSpPr/>
          <p:nvPr/>
        </p:nvSpPr>
        <p:spPr>
          <a:xfrm>
            <a:off x="1005840" y="1920240"/>
            <a:ext cx="2925720" cy="100548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dev</a:t>
            </a:r>
            <a:endParaRPr b="0" lang="pl-PL" sz="2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namespace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86" name="Rounded Rectangle 6"/>
          <p:cNvSpPr/>
          <p:nvPr/>
        </p:nvSpPr>
        <p:spPr>
          <a:xfrm>
            <a:off x="4617720" y="1920240"/>
            <a:ext cx="2925720" cy="100548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qa</a:t>
            </a:r>
            <a:endParaRPr b="0" lang="pl-PL" sz="2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namespace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87" name="Rounded Rectangle 7"/>
          <p:cNvSpPr/>
          <p:nvPr/>
        </p:nvSpPr>
        <p:spPr>
          <a:xfrm>
            <a:off x="8229600" y="1920240"/>
            <a:ext cx="2925720" cy="100548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prod</a:t>
            </a:r>
            <a:endParaRPr b="0" lang="pl-PL" sz="2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2300" spc="-1" strike="noStrike">
                <a:solidFill>
                  <a:srgbClr val="ffffff"/>
                </a:solidFill>
                <a:latin typeface="Arial"/>
              </a:rPr>
              <a:t>namespace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88" name="TextBox 8"/>
          <p:cNvSpPr/>
          <p:nvPr/>
        </p:nvSpPr>
        <p:spPr>
          <a:xfrm>
            <a:off x="1188720" y="3794760"/>
            <a:ext cx="9783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6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</a:rPr>
              <a:t>Namespace pomaga oddzielić zasoby, konfigurację i dostęp do aplikacji.</a:t>
            </a:r>
            <a:endParaRPr b="0" lang="pl-PL" sz="2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91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92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Co Kubernetes komplikuje?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1371600" y="1737360"/>
            <a:ext cx="96008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więcej warstw między użytkownikiem a aplikacją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więcej miejsc, w których może wystąpić błąd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trudniejsze debugowanie niż przy pojedynczym procesie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konieczność rozumienia sieci, DNS, storage i konfiguracji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łatwo pomylić problem aplikacji z problemem platformy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96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97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Wada: wiele warstw diagnostyki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98" name="Rounded Rectangle 5"/>
          <p:cNvSpPr/>
          <p:nvPr/>
        </p:nvSpPr>
        <p:spPr>
          <a:xfrm>
            <a:off x="914400" y="1691640"/>
            <a:ext cx="2102760" cy="59400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aplikacja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99" name="Rounded Rectangle 6"/>
          <p:cNvSpPr/>
          <p:nvPr/>
        </p:nvSpPr>
        <p:spPr>
          <a:xfrm>
            <a:off x="3383280" y="1691640"/>
            <a:ext cx="2102760" cy="59400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kontener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100" name="Rounded Rectangle 7"/>
          <p:cNvSpPr/>
          <p:nvPr/>
        </p:nvSpPr>
        <p:spPr>
          <a:xfrm>
            <a:off x="5852160" y="1691640"/>
            <a:ext cx="2102760" cy="59400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Pod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101" name="Rounded Rectangle 8"/>
          <p:cNvSpPr/>
          <p:nvPr/>
        </p:nvSpPr>
        <p:spPr>
          <a:xfrm>
            <a:off x="8321040" y="1691640"/>
            <a:ext cx="2102760" cy="59400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Service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102" name="Rounded Rectangle 9"/>
          <p:cNvSpPr/>
          <p:nvPr/>
        </p:nvSpPr>
        <p:spPr>
          <a:xfrm>
            <a:off x="2148840" y="3063240"/>
            <a:ext cx="2102760" cy="59400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DNS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103" name="Rounded Rectangle 10"/>
          <p:cNvSpPr/>
          <p:nvPr/>
        </p:nvSpPr>
        <p:spPr>
          <a:xfrm>
            <a:off x="4617720" y="3063240"/>
            <a:ext cx="2102760" cy="59400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network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104" name="Rounded Rectangle 11"/>
          <p:cNvSpPr/>
          <p:nvPr/>
        </p:nvSpPr>
        <p:spPr>
          <a:xfrm>
            <a:off x="7086600" y="3063240"/>
            <a:ext cx="2102760" cy="59400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node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105" name="TextBox 12"/>
          <p:cNvSpPr/>
          <p:nvPr/>
        </p:nvSpPr>
        <p:spPr>
          <a:xfrm>
            <a:off x="1188720" y="4617720"/>
            <a:ext cx="9783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5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Dla QA najważniejsze jest zawęzić problem: aplikacja, konfiguracja, Service czy platforma.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08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09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Wada: koszt utrzymania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10" name="TextBox 5"/>
          <p:cNvSpPr/>
          <p:nvPr/>
        </p:nvSpPr>
        <p:spPr>
          <a:xfrm>
            <a:off x="1463040" y="1783080"/>
            <a:ext cx="950940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klaster trzeba aktualizować i monitorować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trzeba obsłużyć certyfikaty, DNS, sieć i storage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potrzebne są logi, metryki i alerty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problemy platformowe wymagają wiedzy operatorskiej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sam Kubernetes nie zastępuje dobrych praktyk aplikacyjnych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12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13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14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Kiedy Kubernetes ma sens?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15" name="TextBox 5"/>
          <p:cNvSpPr/>
          <p:nvPr/>
        </p:nvSpPr>
        <p:spPr>
          <a:xfrm>
            <a:off x="914400" y="1600200"/>
            <a:ext cx="4891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6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500" spc="-1" strike="noStrike">
                <a:solidFill>
                  <a:srgbClr val="f6e540"/>
                </a:solidFill>
                <a:latin typeface="Arial"/>
              </a:rPr>
              <a:t>Ma sens, gdy:</a:t>
            </a:r>
            <a:endParaRPr b="0" lang="pl-PL" sz="2500" spc="-1" strike="noStrike">
              <a:latin typeface="Arial"/>
            </a:endParaRPr>
          </a:p>
        </p:txBody>
      </p:sp>
      <p:sp>
        <p:nvSpPr>
          <p:cNvPr id="116" name="TextBox 6"/>
          <p:cNvSpPr/>
          <p:nvPr/>
        </p:nvSpPr>
        <p:spPr>
          <a:xfrm>
            <a:off x="6400800" y="1600200"/>
            <a:ext cx="4891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6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500" spc="-1" strike="noStrike">
                <a:solidFill>
                  <a:srgbClr val="f6e540"/>
                </a:solidFill>
                <a:latin typeface="Arial"/>
              </a:rPr>
              <a:t>Może być overkill, gdy:</a:t>
            </a:r>
            <a:endParaRPr b="0" lang="pl-PL" sz="2500" spc="-1" strike="noStrike">
              <a:latin typeface="Arial"/>
            </a:endParaRPr>
          </a:p>
        </p:txBody>
      </p:sp>
      <p:sp>
        <p:nvSpPr>
          <p:cNvPr id="117" name="TextBox 7"/>
          <p:cNvSpPr/>
          <p:nvPr/>
        </p:nvSpPr>
        <p:spPr>
          <a:xfrm>
            <a:off x="868680" y="2331720"/>
            <a:ext cx="49374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jest wiele usług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potrzebne są rollouty i skalowanie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środowiska mają być powtarzalne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zespół ma kompetencje platformowe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118" name="TextBox 8"/>
          <p:cNvSpPr/>
          <p:nvPr/>
        </p:nvSpPr>
        <p:spPr>
          <a:xfrm>
            <a:off x="6400800" y="2331720"/>
            <a:ext cx="49374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aplikacja jest bardzo prosta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brakuje zespołu utrzymaniowego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nie ma potrzeby skalowania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koszt przewyższa zysk</a:t>
            </a:r>
            <a:endParaRPr b="0" lang="pl-PL" sz="2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21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22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Perspektywa QA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1280160" y="1691640"/>
            <a:ext cx="96922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QA nie musi budować klastra, ale powinien rozumieć podstawowe obiekty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najważniejsze są statusy, logi, eventy, Service i konfiguracja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warto umieć odtworzyć problem i zebrać konkretne dowody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dobry raport z błędu powinien zawierać namespace, Pod, logi i opis objawu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24" name="Rounded Rectangle 6"/>
          <p:cNvSpPr/>
          <p:nvPr/>
        </p:nvSpPr>
        <p:spPr>
          <a:xfrm>
            <a:off x="2011680" y="5074920"/>
            <a:ext cx="8137800" cy="5482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kubectl get pods &amp;&amp; kubectl describe pod &amp;&amp; kubectl logs</a:t>
            </a:r>
            <a:endParaRPr b="0" lang="pl-PL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27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28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Do zapamiętania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29" name="Rounded Rectangle 5"/>
          <p:cNvSpPr/>
          <p:nvPr/>
        </p:nvSpPr>
        <p:spPr>
          <a:xfrm>
            <a:off x="868680" y="1737360"/>
            <a:ext cx="3108600" cy="82260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ffffff"/>
                </a:solidFill>
                <a:latin typeface="Arial"/>
              </a:rPr>
              <a:t>Zaleta</a:t>
            </a:r>
            <a:endParaRPr b="0" lang="pl-PL" sz="2500" spc="-1" strike="noStrike">
              <a:latin typeface="Arial"/>
            </a:endParaRPr>
          </a:p>
        </p:txBody>
      </p:sp>
      <p:sp>
        <p:nvSpPr>
          <p:cNvPr id="130" name="TextBox 6"/>
          <p:cNvSpPr/>
          <p:nvPr/>
        </p:nvSpPr>
        <p:spPr>
          <a:xfrm>
            <a:off x="4343400" y="190188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automatyzacja, powtarzalność, self-healing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131" name="Rounded Rectangle 7"/>
          <p:cNvSpPr/>
          <p:nvPr/>
        </p:nvSpPr>
        <p:spPr>
          <a:xfrm>
            <a:off x="868680" y="2880360"/>
            <a:ext cx="3108600" cy="82260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f7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ffffff"/>
                </a:solidFill>
                <a:latin typeface="Arial"/>
              </a:rPr>
              <a:t>Wada</a:t>
            </a:r>
            <a:endParaRPr b="0" lang="pl-PL" sz="2500" spc="-1" strike="noStrike">
              <a:latin typeface="Arial"/>
            </a:endParaRPr>
          </a:p>
        </p:txBody>
      </p:sp>
      <p:sp>
        <p:nvSpPr>
          <p:cNvPr id="132" name="TextBox 8"/>
          <p:cNvSpPr/>
          <p:nvPr/>
        </p:nvSpPr>
        <p:spPr>
          <a:xfrm>
            <a:off x="4343400" y="304488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4000"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złożoność, koszty utrzymania, trudniejszy debugging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133" name="TextBox 9"/>
          <p:cNvSpPr/>
          <p:nvPr/>
        </p:nvSpPr>
        <p:spPr>
          <a:xfrm>
            <a:off x="1188720" y="4800600"/>
            <a:ext cx="9783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9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Kubernetes jest platformą do zarządzania aplikacjami.</a:t>
            </a:r>
            <a:endParaRPr b="0" lang="pl-PL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Im więcej daje automatyzacji, tym więcej trzeba rozumieć podczas diagnozy.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pl-PL</dc:language>
  <cp:lastModifiedBy/>
  <dcterms:modified xsi:type="dcterms:W3CDTF">2026-06-09T22:55:55Z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