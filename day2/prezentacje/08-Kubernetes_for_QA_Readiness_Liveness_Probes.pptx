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3.jpeg" ContentType="image/jpeg"/>
  <Override PartName="/ppt/media/image8.jpeg" ContentType="image/jpeg"/>
  <Override PartName="/ppt/media/image10.jpeg" ContentType="image/jpeg"/>
  <Override PartName="/ppt/media/image18.jpeg" ContentType="image/jpeg"/>
  <Override PartName="/ppt/media/image17.jpeg" ContentType="image/jpeg"/>
  <Override PartName="/ppt/media/image16.jpeg" ContentType="image/jpe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12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8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F0175E-9AD1-4C93-B21F-6D622991BF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0AE986-C817-4E9E-ADF2-0FF9B025F8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ABB70F-36E8-4882-B534-9160FC9471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CD4014-C42F-4577-9BB5-662ED8D63F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91212B-C88E-4D37-8D13-F105DFB7CA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ADB05C-C210-432B-93D3-A968B455B2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6700E4-C242-4258-A10C-166D2CC7EDE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C4F20C-5A95-4711-8123-D81E2420BF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7BF012-E01D-4AC0-AFD7-74C87634D55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14412D-209B-4ADA-907C-A0744C8740B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84E7D0-8A7E-4005-88B0-80424271700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329EEC-6B6E-4E72-87B9-C1F760D3AC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&lt;data/godzina&gt;</a:t>
            </a:r>
            <a:endParaRPr b="0" lang="pl-PL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F5BE9E-6A24-483E-8F41-D2D9CB0DC4E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Kliknij, aby edytować format tekstu tytułu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4" name="TextBox 4"/>
          <p:cNvSpPr/>
          <p:nvPr/>
        </p:nvSpPr>
        <p:spPr>
          <a:xfrm>
            <a:off x="914400" y="1417320"/>
            <a:ext cx="10332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4100" spc="-1" strike="noStrike">
                <a:solidFill>
                  <a:srgbClr val="f6e540"/>
                </a:solidFill>
                <a:latin typeface="Arial"/>
              </a:rPr>
              <a:t>Readiness Probe i Liveness Probe</a:t>
            </a:r>
            <a:endParaRPr b="0" lang="pl-PL" sz="4100" spc="-1" strike="noStrike">
              <a:latin typeface="Arial"/>
            </a:endParaRPr>
          </a:p>
        </p:txBody>
      </p:sp>
      <p:sp>
        <p:nvSpPr>
          <p:cNvPr id="45" name="TextBox 5"/>
          <p:cNvSpPr/>
          <p:nvPr/>
        </p:nvSpPr>
        <p:spPr>
          <a:xfrm>
            <a:off x="1508760" y="2286000"/>
            <a:ext cx="9143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Dlaczego Pod może być Running, a aplikacja nadal nie działa?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46" name="Rounded Rectangle 6"/>
          <p:cNvSpPr/>
          <p:nvPr/>
        </p:nvSpPr>
        <p:spPr>
          <a:xfrm>
            <a:off x="2926080" y="3840480"/>
            <a:ext cx="6309000" cy="9140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describe pod &lt;pod&gt;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0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Cel modułu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417320" y="1783080"/>
            <a:ext cx="9600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zrozumieć różnicę między Running, Ready i zdrową aplikacją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zobaczyć wpływ readinessProbe na Service i endpoints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zobaczyć wpływ livenessProbe na restarty kontenera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nauczyć się diagnozować probe przez describe, logs i events</a:t>
            </a:r>
            <a:endParaRPr b="0" lang="pl-PL" sz="23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przećwiczyć naprawę błędnych probe w manifeście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Running ≠ Ready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6" name="Rounded Rectangle 5"/>
          <p:cNvSpPr/>
          <p:nvPr/>
        </p:nvSpPr>
        <p:spPr>
          <a:xfrm>
            <a:off x="1097280" y="1828800"/>
            <a:ext cx="2925720" cy="86832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Running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kontener działa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7" name="Rounded Rectangle 6"/>
          <p:cNvSpPr/>
          <p:nvPr/>
        </p:nvSpPr>
        <p:spPr>
          <a:xfrm>
            <a:off x="4617720" y="1828800"/>
            <a:ext cx="2925720" cy="86832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Ready</a:t>
            </a:r>
            <a:endParaRPr b="0" lang="pl-PL" sz="2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aplikacja gotowa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58" name="Rounded Rectangle 7"/>
          <p:cNvSpPr/>
          <p:nvPr/>
        </p:nvSpPr>
        <p:spPr>
          <a:xfrm>
            <a:off x="8138160" y="1828800"/>
            <a:ext cx="2925720" cy="86832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7aff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Service</a:t>
            </a:r>
            <a:endParaRPr b="0" lang="pl-PL" sz="2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może wysłać ruch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59" name="TextBox 8"/>
          <p:cNvSpPr/>
          <p:nvPr/>
        </p:nvSpPr>
        <p:spPr>
          <a:xfrm>
            <a:off x="1280160" y="3383280"/>
            <a:ext cx="96008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0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Dla QA ważne: Pod może istnieć i działać, ale nie musi jeszcze obsługiwać ruchu.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61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2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3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Czym są probe?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1280160" y="1737360"/>
            <a:ext cx="978372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probe to cykliczny test wykonywany przez kubelet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Kubernetes nie zna aplikacji — zna tylko wynik testu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test może być HTTP, TCP albo exec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65" name="Rounded Rectangle 6"/>
          <p:cNvSpPr/>
          <p:nvPr/>
        </p:nvSpPr>
        <p:spPr>
          <a:xfrm>
            <a:off x="1143000" y="3840480"/>
            <a:ext cx="283428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readinessProbe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4251960" y="3977640"/>
            <a:ext cx="6674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1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czy aplikacja może przyjmować ruch?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67" name="Rounded Rectangle 8"/>
          <p:cNvSpPr/>
          <p:nvPr/>
        </p:nvSpPr>
        <p:spPr>
          <a:xfrm>
            <a:off x="1143000" y="4846320"/>
            <a:ext cx="283428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200" spc="-1" strike="noStrike">
                <a:solidFill>
                  <a:srgbClr val="ffffff"/>
                </a:solidFill>
                <a:latin typeface="Arial"/>
              </a:rPr>
              <a:t>livenessProbe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68" name="TextBox 9"/>
          <p:cNvSpPr/>
          <p:nvPr/>
        </p:nvSpPr>
        <p:spPr>
          <a:xfrm>
            <a:off x="4251960" y="4983480"/>
            <a:ext cx="6674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1000"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czy kontener należy zrestartować?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1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2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readinessProbe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3" name="Rounded Rectangle 5"/>
          <p:cNvSpPr/>
          <p:nvPr/>
        </p:nvSpPr>
        <p:spPr>
          <a:xfrm>
            <a:off x="960120" y="1691640"/>
            <a:ext cx="10240920" cy="26514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readinessProbe: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httpGet: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path: /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port: 80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initialDelaySeconds: 5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periodSeconds: 5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1188720" y="475488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Jeśli readinessProbe nie przechodzi, Pod nie trafia do endpoints Service.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7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8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Lab: błędny readinessProbe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9" name="Rounded Rectangle 5"/>
          <p:cNvSpPr/>
          <p:nvPr/>
        </p:nvSpPr>
        <p:spPr>
          <a:xfrm>
            <a:off x="1005840" y="1645920"/>
            <a:ext cx="10149480" cy="12340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apply -f readiness-broken.yaml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0" name="Rounded Rectangle 6"/>
          <p:cNvSpPr/>
          <p:nvPr/>
        </p:nvSpPr>
        <p:spPr>
          <a:xfrm>
            <a:off x="1645920" y="3063240"/>
            <a:ext cx="8869320" cy="14169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readinessProbe: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httpGet: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path: /healthz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port: 80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1234440" y="4892040"/>
            <a:ext cx="9692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Nginx nie ma domyślnie endpointu /healthz, więc Pod nie będzie Ready.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Diagnoza readiness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6" name="Rounded Rectangle 5"/>
          <p:cNvSpPr/>
          <p:nvPr/>
        </p:nvSpPr>
        <p:spPr>
          <a:xfrm>
            <a:off x="1005840" y="1600200"/>
            <a:ext cx="10149480" cy="23770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events --sort-by=.metadata.creationTimestamp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svc &lt;service-name&gt;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1080000" y="4500000"/>
            <a:ext cx="9981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Sygnał ostrzegawczy: Pod jest Running, ale nie ma go w endpoints Service.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0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1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Naprawa readiness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2" name="Rounded Rectangle 5"/>
          <p:cNvSpPr/>
          <p:nvPr/>
        </p:nvSpPr>
        <p:spPr>
          <a:xfrm>
            <a:off x="914400" y="1600200"/>
            <a:ext cx="10332360" cy="11426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edit deployment readiness-demo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# w vim poprawiamy path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:wq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1097280" y="3108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</a:rPr>
              <a:t>Było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6492240" y="3108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</a:rPr>
              <a:t>Ma być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95" name="Rounded Rectangle 8"/>
          <p:cNvSpPr/>
          <p:nvPr/>
        </p:nvSpPr>
        <p:spPr>
          <a:xfrm>
            <a:off x="1005840" y="3657600"/>
            <a:ext cx="4754520" cy="776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path: /healthz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96" name="Rounded Rectangle 9"/>
          <p:cNvSpPr/>
          <p:nvPr/>
        </p:nvSpPr>
        <p:spPr>
          <a:xfrm>
            <a:off x="6400800" y="3657600"/>
            <a:ext cx="4754520" cy="776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path: /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97" name="Rounded Rectangle 10"/>
          <p:cNvSpPr/>
          <p:nvPr/>
        </p:nvSpPr>
        <p:spPr>
          <a:xfrm>
            <a:off x="2011680" y="4983480"/>
            <a:ext cx="8137800" cy="5940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watch -n2 "kubectl get pods -o wide"</a:t>
            </a:r>
            <a:endParaRPr b="0" lang="pl-PL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0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1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Service i endpoints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2" name="Rounded Rectangle 5"/>
          <p:cNvSpPr/>
          <p:nvPr/>
        </p:nvSpPr>
        <p:spPr>
          <a:xfrm>
            <a:off x="914400" y="1828800"/>
            <a:ext cx="27428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Service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03" name="TextBox 6"/>
          <p:cNvSpPr/>
          <p:nvPr/>
        </p:nvSpPr>
        <p:spPr>
          <a:xfrm>
            <a:off x="3931920" y="1993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00c2ae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104" name="Rounded Rectangle 7"/>
          <p:cNvSpPr/>
          <p:nvPr/>
        </p:nvSpPr>
        <p:spPr>
          <a:xfrm>
            <a:off x="5074920" y="1828800"/>
            <a:ext cx="274284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Endpoints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05" name="TextBox 8"/>
          <p:cNvSpPr/>
          <p:nvPr/>
        </p:nvSpPr>
        <p:spPr>
          <a:xfrm>
            <a:off x="8092440" y="199332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69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600" spc="-1" strike="noStrike">
                <a:solidFill>
                  <a:srgbClr val="00c2ae"/>
                </a:solidFill>
                <a:latin typeface="Arial"/>
              </a:rPr>
              <a:t>→</a:t>
            </a:r>
            <a:endParaRPr b="0" lang="pl-PL" sz="2600" spc="-1" strike="noStrike">
              <a:latin typeface="Arial"/>
            </a:endParaRPr>
          </a:p>
        </p:txBody>
      </p:sp>
      <p:sp>
        <p:nvSpPr>
          <p:cNvPr id="106" name="Rounded Rectangle 9"/>
          <p:cNvSpPr/>
          <p:nvPr/>
        </p:nvSpPr>
        <p:spPr>
          <a:xfrm>
            <a:off x="9144000" y="1828800"/>
            <a:ext cx="2011320" cy="68544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7affb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100" spc="-1" strike="noStrike">
                <a:solidFill>
                  <a:srgbClr val="ffffff"/>
                </a:solidFill>
                <a:latin typeface="Arial"/>
              </a:rPr>
              <a:t>Ready Pods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07" name="Rounded Rectangle 10"/>
          <p:cNvSpPr/>
          <p:nvPr/>
        </p:nvSpPr>
        <p:spPr>
          <a:xfrm>
            <a:off x="1874520" y="3520440"/>
            <a:ext cx="8412120" cy="9140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describe svc &lt;service-name&gt;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08" name="TextBox 11"/>
          <p:cNvSpPr/>
          <p:nvPr/>
        </p:nvSpPr>
        <p:spPr>
          <a:xfrm>
            <a:off x="1188720" y="4983480"/>
            <a:ext cx="9875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5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Brak endpointów bardzo często oznacza problem z readiness albo selectorami Service.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1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2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livenessProbe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3" name="Rounded Rectangle 5"/>
          <p:cNvSpPr/>
          <p:nvPr/>
        </p:nvSpPr>
        <p:spPr>
          <a:xfrm>
            <a:off x="960120" y="1691640"/>
            <a:ext cx="10240920" cy="26514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livenessProbe: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httpGet: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path: /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port: 80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initialDelaySeconds: 10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periodSeconds: 5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14" name="TextBox 6"/>
          <p:cNvSpPr/>
          <p:nvPr/>
        </p:nvSpPr>
        <p:spPr>
          <a:xfrm>
            <a:off x="1188720" y="4754880"/>
            <a:ext cx="9783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Jeśli livenessProbe nie przechodzi, Kubernetes restartuje kontener.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7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8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Lab: błędny livenessProbe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9" name="Rounded Rectangle 5"/>
          <p:cNvSpPr/>
          <p:nvPr/>
        </p:nvSpPr>
        <p:spPr>
          <a:xfrm>
            <a:off x="1005840" y="1645920"/>
            <a:ext cx="10149480" cy="10054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apply -f liveness-broken.yaml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20" name="Rounded Rectangle 6"/>
          <p:cNvSpPr/>
          <p:nvPr/>
        </p:nvSpPr>
        <p:spPr>
          <a:xfrm>
            <a:off x="1645920" y="3063240"/>
            <a:ext cx="8869320" cy="14169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livenessProbe: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httpGet: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path: /not-existing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port: 80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21" name="TextBox 7"/>
          <p:cNvSpPr/>
          <p:nvPr/>
        </p:nvSpPr>
        <p:spPr>
          <a:xfrm>
            <a:off x="1234440" y="4892040"/>
            <a:ext cx="9692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Efekt: rosnący RESTARTS i eventy o failed liveness probe.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Naprawa liveness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6" name="Rounded Rectangle 5"/>
          <p:cNvSpPr/>
          <p:nvPr/>
        </p:nvSpPr>
        <p:spPr>
          <a:xfrm>
            <a:off x="914400" y="1600200"/>
            <a:ext cx="10332360" cy="11426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edit deployment liveness-demo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# w vim poprawiamy path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:wq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1097280" y="3108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</a:rPr>
              <a:t>Było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28" name="TextBox 7"/>
          <p:cNvSpPr/>
          <p:nvPr/>
        </p:nvSpPr>
        <p:spPr>
          <a:xfrm>
            <a:off x="6492240" y="31089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8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f6e540"/>
                </a:solidFill>
                <a:latin typeface="Arial"/>
              </a:rPr>
              <a:t>Ma być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29" name="Rounded Rectangle 8"/>
          <p:cNvSpPr/>
          <p:nvPr/>
        </p:nvSpPr>
        <p:spPr>
          <a:xfrm>
            <a:off x="1005840" y="3657600"/>
            <a:ext cx="4754520" cy="776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path: /not-existing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30" name="Rounded Rectangle 9"/>
          <p:cNvSpPr/>
          <p:nvPr/>
        </p:nvSpPr>
        <p:spPr>
          <a:xfrm>
            <a:off x="6400800" y="3657600"/>
            <a:ext cx="4754520" cy="77688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path: /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31" name="Rounded Rectangle 10"/>
          <p:cNvSpPr/>
          <p:nvPr/>
        </p:nvSpPr>
        <p:spPr>
          <a:xfrm>
            <a:off x="2011680" y="4983480"/>
            <a:ext cx="8137800" cy="5940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ffffff"/>
                </a:solidFill>
                <a:latin typeface="Courier New"/>
              </a:rPr>
              <a:t>watch -n2 "kubectl get pods -o wide"</a:t>
            </a:r>
            <a:endParaRPr b="0" lang="pl-PL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3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34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35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Typy probe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36" name="Rounded Rectangle 5"/>
          <p:cNvSpPr/>
          <p:nvPr/>
        </p:nvSpPr>
        <p:spPr>
          <a:xfrm>
            <a:off x="914400" y="1828800"/>
            <a:ext cx="3017160" cy="7768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httpGet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37" name="Rounded Rectangle 6"/>
          <p:cNvSpPr/>
          <p:nvPr/>
        </p:nvSpPr>
        <p:spPr>
          <a:xfrm>
            <a:off x="4572000" y="1828800"/>
            <a:ext cx="3017160" cy="7768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tcpSocket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38" name="Rounded Rectangle 7"/>
          <p:cNvSpPr/>
          <p:nvPr/>
        </p:nvSpPr>
        <p:spPr>
          <a:xfrm>
            <a:off x="8229600" y="1828800"/>
            <a:ext cx="3017160" cy="77688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exec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39" name="TextBox 8"/>
          <p:cNvSpPr/>
          <p:nvPr/>
        </p:nvSpPr>
        <p:spPr>
          <a:xfrm>
            <a:off x="914400" y="297180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HTTP endpoint</a:t>
            </a:r>
            <a:endParaRPr b="0" lang="pl-PL" sz="21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np. /health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40" name="TextBox 9"/>
          <p:cNvSpPr/>
          <p:nvPr/>
        </p:nvSpPr>
        <p:spPr>
          <a:xfrm>
            <a:off x="4572000" y="297180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czy port</a:t>
            </a:r>
            <a:endParaRPr b="0" lang="pl-PL" sz="21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odpowiada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41" name="TextBox 10"/>
          <p:cNvSpPr/>
          <p:nvPr/>
        </p:nvSpPr>
        <p:spPr>
          <a:xfrm>
            <a:off x="8229600" y="2971800"/>
            <a:ext cx="30171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komenda</a:t>
            </a:r>
            <a:endParaRPr b="0" lang="pl-PL" sz="2100" spc="-1" strike="noStrike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w kontenerze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42" name="TextBox 11"/>
          <p:cNvSpPr/>
          <p:nvPr/>
        </p:nvSpPr>
        <p:spPr>
          <a:xfrm>
            <a:off x="1143000" y="4709160"/>
            <a:ext cx="98751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 aplikacjach webowych najczęściej spotkasz httpGet.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45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46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Najważniejsze parametry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47" name="Rounded Rectangle 5"/>
          <p:cNvSpPr/>
          <p:nvPr/>
        </p:nvSpPr>
        <p:spPr>
          <a:xfrm>
            <a:off x="1051560" y="1600200"/>
            <a:ext cx="10058040" cy="228564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initialDelaySeconds: 10   # kiedy zacząć testować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periodSeconds: 5          # jak często testować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timeoutSeconds: 2         # ile czekać na odpowiedź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failureThreshold: 3       # ile porażek oznacza problem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successThreshold: 1       # ile sukcesów oznacza OK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148" name="TextBox 6"/>
          <p:cNvSpPr/>
          <p:nvPr/>
        </p:nvSpPr>
        <p:spPr>
          <a:xfrm>
            <a:off x="1234440" y="4434840"/>
            <a:ext cx="9692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Zbyt agresywne probe potrafią same spowodować niestabilność aplikacji.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51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52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startupProbe — warto znać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53" name="TextBox 5"/>
          <p:cNvSpPr/>
          <p:nvPr/>
        </p:nvSpPr>
        <p:spPr>
          <a:xfrm>
            <a:off x="1188720" y="1737360"/>
            <a:ext cx="9783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0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startupProbe chroni wolno startujące aplikacje przed zbyt szybkim restartem przez livenessProbe.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154" name="Rounded Rectangle 6"/>
          <p:cNvSpPr/>
          <p:nvPr/>
        </p:nvSpPr>
        <p:spPr>
          <a:xfrm>
            <a:off x="1508760" y="3083040"/>
            <a:ext cx="9143640" cy="213696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startupProbe: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httpGet: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path: /startup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port: 8080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failureThreshold: 30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periodSeconds: 10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56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57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58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Workflow diagnostyczny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59" name="Rounded Rectangle 5"/>
          <p:cNvSpPr/>
          <p:nvPr/>
        </p:nvSpPr>
        <p:spPr>
          <a:xfrm>
            <a:off x="960120" y="1600200"/>
            <a:ext cx="10240920" cy="315432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describe svc &lt;service-name&gt;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logs &lt;pod-name&gt;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get events --sort-by=.metadata.creationTimestamp</a:t>
            </a:r>
            <a:endParaRPr b="0" lang="pl-PL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watch -n2 "kubectl get pods -o wide</a:t>
            </a:r>
            <a:endParaRPr b="0" lang="pl-PL" sz="2100" spc="-1" strike="noStrike">
              <a:latin typeface="Arial"/>
            </a:endParaRPr>
          </a:p>
        </p:txBody>
      </p:sp>
      <p:sp>
        <p:nvSpPr>
          <p:cNvPr id="160" name="TextBox 6"/>
          <p:cNvSpPr/>
          <p:nvPr/>
        </p:nvSpPr>
        <p:spPr>
          <a:xfrm>
            <a:off x="1280160" y="5166360"/>
            <a:ext cx="9600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Przy probe najważniejsze są: describe, events, endpoints i licznik restartów.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2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3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64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Mini lab: przebieg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65" name="TextBox 5"/>
          <p:cNvSpPr/>
          <p:nvPr/>
        </p:nvSpPr>
        <p:spPr>
          <a:xfrm>
            <a:off x="1325880" y="1691640"/>
            <a:ext cx="960084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uruchamiamy Deployment z błędnym readinessProbe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sprawdzamy, że Pod nie trafia do endpoints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naprawiamy probe przez kubectl edit deployment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uruchamiamy Deployment z błędnym livenessProbe</a:t>
            </a:r>
            <a:endParaRPr b="0" lang="pl-PL" sz="24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spcAft>
                <a:spcPts val="799"/>
              </a:spcAft>
              <a:buClr>
                <a:srgbClr val="ffffff"/>
              </a:buClr>
              <a:buFont typeface="Symbol" charset="2"/>
              <a:buChar char=""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obserwujemy restarty i naprawiamy path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66" name="Rounded Rectangle 6"/>
          <p:cNvSpPr/>
          <p:nvPr/>
        </p:nvSpPr>
        <p:spPr>
          <a:xfrm>
            <a:off x="1920240" y="4709160"/>
            <a:ext cx="8320680" cy="594000"/>
          </a:xfrm>
          <a:prstGeom prst="roundRect">
            <a:avLst>
              <a:gd name="adj" fmla="val 16667"/>
            </a:avLst>
          </a:prstGeom>
          <a:solidFill>
            <a:srgbClr val="141c37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2816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edit deployment &lt;deployment-name&gt;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/>
          <p:nvPr/>
        </p:nvSpPr>
        <p:spPr>
          <a:xfrm>
            <a:off x="411480" y="1645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9738360" y="164520"/>
            <a:ext cx="2057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9" name="Picture 3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70" name="TextBox 4"/>
          <p:cNvSpPr/>
          <p:nvPr/>
        </p:nvSpPr>
        <p:spPr>
          <a:xfrm>
            <a:off x="777240" y="777240"/>
            <a:ext cx="106981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7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Do zapamiętania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1" name="Rounded Rectangle 5"/>
          <p:cNvSpPr/>
          <p:nvPr/>
        </p:nvSpPr>
        <p:spPr>
          <a:xfrm>
            <a:off x="1005840" y="1828800"/>
            <a:ext cx="301716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readiness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4389120" y="19659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decyduje, czy Pod dostaje ruch z Service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73" name="Rounded Rectangle 7"/>
          <p:cNvSpPr/>
          <p:nvPr/>
        </p:nvSpPr>
        <p:spPr>
          <a:xfrm>
            <a:off x="1005840" y="2971800"/>
            <a:ext cx="3017160" cy="731160"/>
          </a:xfrm>
          <a:prstGeom prst="roundRect">
            <a:avLst>
              <a:gd name="adj" fmla="val 16667"/>
            </a:avLst>
          </a:prstGeom>
          <a:solidFill>
            <a:srgbClr val="34457d"/>
          </a:solidFill>
          <a:ln w="15240">
            <a:solidFill>
              <a:srgbClr val="ff7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73080" bIns="7308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liveness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74" name="TextBox 8"/>
          <p:cNvSpPr/>
          <p:nvPr/>
        </p:nvSpPr>
        <p:spPr>
          <a:xfrm>
            <a:off x="4389120" y="3108960"/>
            <a:ext cx="6583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decyduje, czy kontener zostanie zrestartowany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75" name="TextBox 9"/>
          <p:cNvSpPr/>
          <p:nvPr/>
        </p:nvSpPr>
        <p:spPr>
          <a:xfrm>
            <a:off x="1234440" y="4892040"/>
            <a:ext cx="9692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2000"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Running to nie zawsze Ready. Ready to dopiero gotowość do obsługi ruchu.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2026-06-09T22:43:37Z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