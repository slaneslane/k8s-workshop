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4A4B2E-B22A-4F1A-ADD8-499FEEF158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86522F-F378-4CED-909D-E767B4152F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649871-DA0C-467E-9A43-082E1FB0E4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8978E1-A9C2-4904-B3E8-231E358047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A3BBB2-C9BA-4946-98B7-59E19B8A35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8E9833-1339-487B-8EE6-18E8EE4C43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2D6CAA-DE43-412C-9620-97FCC5DB21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A47C0D-7241-4C1D-AEC6-80AB45A431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DBD170-E4FE-40EF-BE56-0079DB5EF9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3B2EE7-4787-4205-9CD8-742BB8B7BB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FA1687-691C-40EC-83ED-247C58CFD3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F2B6C-20A9-46C1-A836-8AAA77231DC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&lt;data/godzina&gt;</a:t>
            </a:r>
            <a:endParaRPr b="0" lang="pl-PL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l-PL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l-PL" sz="1400" spc="-1" strike="noStrike">
                <a:latin typeface="Times New Roman"/>
              </a:rPr>
              <a:t>&lt;stopka&gt;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26D5FBC-D18D-4CF8-8803-850BA5E0F56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Kliknij, aby edytować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 tekstu tytułu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Drugi poziom konspektu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Trzeci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Czwarty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Piąty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Szósty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Siódmy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3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4" name="TextBox 4"/>
          <p:cNvSpPr/>
          <p:nvPr/>
        </p:nvSpPr>
        <p:spPr>
          <a:xfrm>
            <a:off x="731520" y="1417320"/>
            <a:ext cx="10743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4200" spc="-1" strike="noStrike">
                <a:solidFill>
                  <a:srgbClr val="f6e540"/>
                </a:solidFill>
                <a:latin typeface="Arial"/>
              </a:rPr>
              <a:t>DNS, TLS i mTLS w Kubernetes</a:t>
            </a:r>
            <a:endParaRPr b="0" lang="pl-PL" sz="42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1234440" y="2331720"/>
            <a:ext cx="9738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Jak opowiedzieć o nazwach, certyfikatach i szyfrowaniu ruchu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46" name="Rounded Rectangle 6"/>
          <p:cNvSpPr/>
          <p:nvPr/>
        </p:nvSpPr>
        <p:spPr>
          <a:xfrm>
            <a:off x="2834640" y="3794760"/>
            <a:ext cx="6583320" cy="82260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DNS: gdzie jest usługa?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TLS: czy ufam endpointowi?</a:t>
            </a:r>
            <a:endParaRPr b="0" lang="pl-PL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0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DNS: dwa światy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1" name="Rounded Rectangle 5"/>
          <p:cNvSpPr/>
          <p:nvPr/>
        </p:nvSpPr>
        <p:spPr>
          <a:xfrm>
            <a:off x="868680" y="1828800"/>
            <a:ext cx="4571640" cy="8226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DNS wewnętrzny Kubernetes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52" name="TextBox 6"/>
          <p:cNvSpPr/>
          <p:nvPr/>
        </p:nvSpPr>
        <p:spPr>
          <a:xfrm>
            <a:off x="1005840" y="2880360"/>
            <a:ext cx="4297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4000"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Service → Pod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CoreDNS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namespace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svc.cluster.local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53" name="Rounded Rectangle 7"/>
          <p:cNvSpPr/>
          <p:nvPr/>
        </p:nvSpPr>
        <p:spPr>
          <a:xfrm>
            <a:off x="6766560" y="1828800"/>
            <a:ext cx="4571640" cy="8226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DNS publiczny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54" name="TextBox 8"/>
          <p:cNvSpPr/>
          <p:nvPr/>
        </p:nvSpPr>
        <p:spPr>
          <a:xfrm>
            <a:off x="6903720" y="2880360"/>
            <a:ext cx="4297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4000"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app.example.com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LoadBalancer / Ingress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użytkownik z internetu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rekord A/CNAME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55" name="TextBox 9"/>
          <p:cNvSpPr/>
          <p:nvPr/>
        </p:nvSpPr>
        <p:spPr>
          <a:xfrm>
            <a:off x="1188720" y="4983480"/>
            <a:ext cx="9829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CoreDNS nie jest publicznym DNS-em dla użytkowników internetu.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58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9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DNS w klastrze — demo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60" name="Rounded Rectangle 5"/>
          <p:cNvSpPr/>
          <p:nvPr/>
        </p:nvSpPr>
        <p:spPr>
          <a:xfrm>
            <a:off x="914400" y="1645920"/>
            <a:ext cx="10332360" cy="20570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kubectl run dns-test -n qa-demo \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--image=busybox:1.36 --rm -it --restart=Never -- sh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cat /etc/resolv.conf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nslookup nginx-secret-demo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nslookup nginx-secret-demo.qa-demo.svc.cluster.local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61" name="TextBox 6"/>
          <p:cNvSpPr/>
          <p:nvPr/>
        </p:nvSpPr>
        <p:spPr>
          <a:xfrm>
            <a:off x="1143000" y="4160520"/>
            <a:ext cx="9875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6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Krótka nazwa działa w tym samym namespace.</a:t>
            </a:r>
            <a:endParaRPr b="0" lang="pl-PL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Pełna nazwa działa jawnie między namespace.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64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65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Klasyczny TLS: HTTPS kończy się na Ingressie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66" name="Rounded Rectangle 5"/>
          <p:cNvSpPr/>
          <p:nvPr/>
        </p:nvSpPr>
        <p:spPr>
          <a:xfrm>
            <a:off x="594360" y="2057400"/>
            <a:ext cx="205704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Browser</a:t>
            </a:r>
            <a:endParaRPr b="0" lang="pl-PL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HTTPS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67" name="TextBox 6"/>
          <p:cNvSpPr/>
          <p:nvPr/>
        </p:nvSpPr>
        <p:spPr>
          <a:xfrm>
            <a:off x="2788920" y="222192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9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600" spc="-1" strike="noStrike">
                <a:solidFill>
                  <a:srgbClr val="f6e540"/>
                </a:solidFill>
                <a:latin typeface="Arial"/>
              </a:rPr>
              <a:t>→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68" name="Rounded Rectangle 7"/>
          <p:cNvSpPr/>
          <p:nvPr/>
        </p:nvSpPr>
        <p:spPr>
          <a:xfrm>
            <a:off x="3429000" y="2057400"/>
            <a:ext cx="246852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Ingress Controller</a:t>
            </a:r>
            <a:endParaRPr b="0" lang="pl-PL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TLS cert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69" name="TextBox 8"/>
          <p:cNvSpPr/>
          <p:nvPr/>
        </p:nvSpPr>
        <p:spPr>
          <a:xfrm>
            <a:off x="6080760" y="222192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9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600" spc="-1" strike="noStrike">
                <a:solidFill>
                  <a:srgbClr val="f6e540"/>
                </a:solidFill>
                <a:latin typeface="Arial"/>
              </a:rPr>
              <a:t>→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70" name="Rounded Rectangle 9"/>
          <p:cNvSpPr/>
          <p:nvPr/>
        </p:nvSpPr>
        <p:spPr>
          <a:xfrm>
            <a:off x="6675120" y="2057400"/>
            <a:ext cx="191988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Service</a:t>
            </a:r>
            <a:endParaRPr b="0" lang="pl-PL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HTTP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8823960" y="222192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9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600" spc="-1" strike="noStrike">
                <a:solidFill>
                  <a:srgbClr val="f6e540"/>
                </a:solidFill>
                <a:latin typeface="Arial"/>
              </a:rPr>
              <a:t>→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72" name="Rounded Rectangle 11"/>
          <p:cNvSpPr/>
          <p:nvPr/>
        </p:nvSpPr>
        <p:spPr>
          <a:xfrm>
            <a:off x="9418320" y="205740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Pod</a:t>
            </a:r>
            <a:endParaRPr b="0" lang="pl-PL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HTTP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73" name="TextBox 12"/>
          <p:cNvSpPr/>
          <p:nvPr/>
        </p:nvSpPr>
        <p:spPr>
          <a:xfrm>
            <a:off x="914400" y="3886200"/>
            <a:ext cx="1033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To najczęstszy model: użytkownik ma HTTPS do Ingressa,</a:t>
            </a:r>
            <a:endParaRPr b="0" lang="pl-PL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a ruch dalej w klastrze może iść jako HTTP.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6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77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mTLS: dodatkowa warstwa szyfrowania w klastrze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78" name="Rounded Rectangle 5"/>
          <p:cNvSpPr/>
          <p:nvPr/>
        </p:nvSpPr>
        <p:spPr>
          <a:xfrm>
            <a:off x="365760" y="1874520"/>
            <a:ext cx="173700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Browser</a:t>
            </a:r>
            <a:endParaRPr b="0" lang="pl-PL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HTTPS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2240280" y="203004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9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600" spc="-1" strike="noStrike">
                <a:solidFill>
                  <a:srgbClr val="f6e540"/>
                </a:solidFill>
                <a:latin typeface="Arial"/>
              </a:rPr>
              <a:t>→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80" name="Rounded Rectangle 7"/>
          <p:cNvSpPr/>
          <p:nvPr/>
        </p:nvSpPr>
        <p:spPr>
          <a:xfrm>
            <a:off x="2743200" y="1874520"/>
            <a:ext cx="201132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Ingress</a:t>
            </a:r>
            <a:endParaRPr b="0" lang="pl-PL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Gateway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4892040" y="203004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9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600" spc="-1" strike="noStrike">
                <a:solidFill>
                  <a:srgbClr val="f6e540"/>
                </a:solidFill>
                <a:latin typeface="Arial"/>
              </a:rPr>
              <a:t>→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82" name="Rounded Rectangle 9"/>
          <p:cNvSpPr/>
          <p:nvPr/>
        </p:nvSpPr>
        <p:spPr>
          <a:xfrm>
            <a:off x="5440680" y="1874520"/>
            <a:ext cx="201132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sidecar</a:t>
            </a:r>
            <a:endParaRPr b="0" lang="pl-PL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mTLS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7589520" y="203004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9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600" spc="-1" strike="noStrike">
                <a:solidFill>
                  <a:srgbClr val="f6e540"/>
                </a:solidFill>
                <a:latin typeface="Arial"/>
              </a:rPr>
              <a:t>→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84" name="Rounded Rectangle 11"/>
          <p:cNvSpPr/>
          <p:nvPr/>
        </p:nvSpPr>
        <p:spPr>
          <a:xfrm>
            <a:off x="8138160" y="1874520"/>
            <a:ext cx="201132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sidecar</a:t>
            </a:r>
            <a:endParaRPr b="0" lang="pl-PL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mTLS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85" name="TextBox 12"/>
          <p:cNvSpPr/>
          <p:nvPr/>
        </p:nvSpPr>
        <p:spPr>
          <a:xfrm>
            <a:off x="10287000" y="203004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9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600" spc="-1" strike="noStrike">
                <a:solidFill>
                  <a:srgbClr val="f6e540"/>
                </a:solidFill>
                <a:latin typeface="Arial"/>
              </a:rPr>
              <a:t>→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86" name="Rounded Rectangle 13"/>
          <p:cNvSpPr/>
          <p:nvPr/>
        </p:nvSpPr>
        <p:spPr>
          <a:xfrm>
            <a:off x="10652760" y="1874520"/>
            <a:ext cx="118836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Pod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87" name="TextBox 14"/>
          <p:cNvSpPr/>
          <p:nvPr/>
        </p:nvSpPr>
        <p:spPr>
          <a:xfrm>
            <a:off x="914400" y="333756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4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Przy mTLS HTTPS może nadal kończyć się na Ingressie,</a:t>
            </a:r>
            <a:endParaRPr b="0" lang="pl-PL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ale ruch wewnątrz klastra jest ponownie szyfrowany i uwierzytelniany przez mesh.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88" name="TextBox 15"/>
          <p:cNvSpPr/>
          <p:nvPr/>
        </p:nvSpPr>
        <p:spPr>
          <a:xfrm>
            <a:off x="914400" y="48006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6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dce6fa"/>
                </a:solidFill>
                <a:latin typeface="Arial"/>
              </a:rPr>
              <a:t>TLS z internetu i mTLS między usługami to często dwie różne warstwy.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91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2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A kiedy TLS nie kończy się na Ingressie?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1188720" y="1691640"/>
            <a:ext cx="98751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Ingress może robić TLS passthrough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certyfikat może być terminowany dopiero w aplikacji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część mesh/gateway może pracować w trybie pass-through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model zależy od architektury, polityk bezpieczeństwa i narzędzi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1188720" y="4343400"/>
            <a:ext cx="9875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8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500" spc="-1" strike="noStrike">
                <a:solidFill>
                  <a:srgbClr val="f6e540"/>
                </a:solidFill>
                <a:latin typeface="Arial"/>
              </a:rPr>
              <a:t>Dlatego przy pytaniu „gdzie kończy się HTTPS?” odpowiedź brzmi:</a:t>
            </a:r>
            <a:endParaRPr b="0" lang="pl-PL" sz="25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500" spc="-1" strike="noStrike">
                <a:solidFill>
                  <a:srgbClr val="f6e540"/>
                </a:solidFill>
                <a:latin typeface="Arial"/>
              </a:rPr>
              <a:t>trzeba sprawdzić konkretną konfigurację.</a:t>
            </a:r>
            <a:endParaRPr b="0" lang="pl-PL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97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8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Jakie certyfikaty mogą istnieć?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99" name="Rounded Rectangle 5"/>
          <p:cNvSpPr/>
          <p:nvPr/>
        </p:nvSpPr>
        <p:spPr>
          <a:xfrm>
            <a:off x="777240" y="1691640"/>
            <a:ext cx="246852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cluster certs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3520440" y="181044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0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API server, kubelet, etcd, komponenty klastra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01" name="Rounded Rectangle 7"/>
          <p:cNvSpPr/>
          <p:nvPr/>
        </p:nvSpPr>
        <p:spPr>
          <a:xfrm>
            <a:off x="777240" y="2651760"/>
            <a:ext cx="246852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kubeconfig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02" name="TextBox 8"/>
          <p:cNvSpPr/>
          <p:nvPr/>
        </p:nvSpPr>
        <p:spPr>
          <a:xfrm>
            <a:off x="3520440" y="277056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0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certyfikat klienta albo token użytkownika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03" name="Rounded Rectangle 9"/>
          <p:cNvSpPr/>
          <p:nvPr/>
        </p:nvSpPr>
        <p:spPr>
          <a:xfrm>
            <a:off x="777240" y="3611880"/>
            <a:ext cx="246852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Ingress TLS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3520440" y="373068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0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certyfikat aplikacji dla domeny publicznej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05" name="Rounded Rectangle 11"/>
          <p:cNvSpPr/>
          <p:nvPr/>
        </p:nvSpPr>
        <p:spPr>
          <a:xfrm>
            <a:off x="777240" y="4572000"/>
            <a:ext cx="246852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mesh mTLS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06" name="TextBox 12"/>
          <p:cNvSpPr/>
          <p:nvPr/>
        </p:nvSpPr>
        <p:spPr>
          <a:xfrm>
            <a:off x="3520440" y="469080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0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krótkie certyfikaty workloadów wydawane przez mesh CA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0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0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Renew certów: najpierw ustalamy które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1143000" y="1645920"/>
            <a:ext cx="9920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8000"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certyfikaty klastra: zależne od dystrybucji — kubeadm, k3s, Talos, cloud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Ingress TLS: zwykle cert-manager, ACME albo firmowe CA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mesh mTLS: zwykle automatyczna rotacja certyfikatów workloadów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kubeconfig użytkownika: nowy kubeconfig albo odnowienie client cert/tokena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12" name="Rounded Rectangle 6"/>
          <p:cNvSpPr/>
          <p:nvPr/>
        </p:nvSpPr>
        <p:spPr>
          <a:xfrm>
            <a:off x="1097280" y="4251960"/>
            <a:ext cx="9966600" cy="95976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sudo k3s certificate check --output table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kubectl get certificate -A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kubectl get secret &lt;tls-secret&gt; -n &lt;ns&gt; -o yaml</a:t>
            </a:r>
            <a:endParaRPr b="0" lang="pl-PL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15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6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Troubleshooting: DNS, TLS, mTLS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7" name="Rounded Rectangle 5"/>
          <p:cNvSpPr/>
          <p:nvPr/>
        </p:nvSpPr>
        <p:spPr>
          <a:xfrm>
            <a:off x="731520" y="1600200"/>
            <a:ext cx="4848480" cy="21484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# DNS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nslookup &lt;service&gt;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kubectl get svc,endpoints -n &lt;ns&gt;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kubectl -n kube-system get pods | grep coredns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118" name="Rounded Rectangle 6"/>
          <p:cNvSpPr/>
          <p:nvPr/>
        </p:nvSpPr>
        <p:spPr>
          <a:xfrm>
            <a:off x="5760000" y="1600200"/>
            <a:ext cx="6120000" cy="21484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ourier New"/>
              </a:rPr>
              <a:t># TLS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ourier New"/>
              </a:rPr>
              <a:t>openssl s_client -connect host:443 -servername host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ourier New"/>
              </a:rPr>
              <a:t>kubectl get secret &lt;tls-secret&gt; -n &lt;ns&gt;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ourier New"/>
              </a:rPr>
              <a:t>kubectl describe certificate &lt;name&gt; -n &lt;ns&gt;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119" name="TextBox 7"/>
          <p:cNvSpPr/>
          <p:nvPr/>
        </p:nvSpPr>
        <p:spPr>
          <a:xfrm>
            <a:off x="914400" y="434340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6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Przy mTLS dodatkowo sprawdzamy sidecary, polityki mesh i certyfikaty workloadów.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22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23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Do zapamiętania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24" name="Rounded Rectangle 5"/>
          <p:cNvSpPr/>
          <p:nvPr/>
        </p:nvSpPr>
        <p:spPr>
          <a:xfrm>
            <a:off x="822960" y="1691640"/>
            <a:ext cx="2742840" cy="63972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DNS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3886200" y="178308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6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czy nazwa rozwiązuje się na właściwą usługę?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26" name="Rounded Rectangle 7"/>
          <p:cNvSpPr/>
          <p:nvPr/>
        </p:nvSpPr>
        <p:spPr>
          <a:xfrm>
            <a:off x="822960" y="2743200"/>
            <a:ext cx="2742840" cy="63972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TLS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3886200" y="283464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6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gdzie kończy się HTTPS i kto ma certyfikat?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28" name="Rounded Rectangle 9"/>
          <p:cNvSpPr/>
          <p:nvPr/>
        </p:nvSpPr>
        <p:spPr>
          <a:xfrm>
            <a:off x="822960" y="3794760"/>
            <a:ext cx="2742840" cy="63972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mTLS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3886200" y="388620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5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czy ruch między usługami jest szyfrowany i uwierzytelniany?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1188720" y="5166360"/>
            <a:ext cx="982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400" spc="-1" strike="noStrike">
                <a:solidFill>
                  <a:srgbClr val="f6e540"/>
                </a:solidFill>
                <a:latin typeface="Arial"/>
              </a:rPr>
              <a:t>Najważniejsze pytanie przy certach: o który certyfikat chodzi?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2026-06-10T17:59:05Z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