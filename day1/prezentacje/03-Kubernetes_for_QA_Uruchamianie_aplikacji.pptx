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jpeg" ContentType="image/jpeg"/>
  <Override PartName="/ppt/media/image11.jpeg" ContentType="image/jpeg"/>
  <Override PartName="/ppt/media/image13.jpeg" ContentType="image/jpeg"/>
  <Override PartName="/ppt/media/image17.jpeg" ContentType="image/jpeg"/>
  <Override PartName="/ppt/media/image16.jpeg" ContentType="image/jpeg"/>
  <Override PartName="/ppt/media/image15.jpeg" ContentType="image/jpeg"/>
  <Override PartName="/ppt/media/image14.jpeg" ContentType="image/jpeg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8.jpeg" ContentType="image/jpeg"/>
  <Override PartName="/ppt/media/image10.jpeg" ContentType="image/jpeg"/>
  <Override PartName="/ppt/media/image6.jpeg" ContentType="image/jpeg"/>
  <Override PartName="/ppt/media/image7.jpeg" ContentType="image/jpeg"/>
  <Override PartName="/ppt/media/image12.jpeg" ContentType="image/jpe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1651C7-4569-4137-9C55-03B42337AE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48A1DC-E4DA-4BBB-A63E-651D96F372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9EB197-6AE7-4A03-94D2-712014C6918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AC3032-4B5A-4EA3-90B7-C3404E2AE5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26DE45-B49A-47F1-877C-898D6C8F0C2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79B253-C06C-485C-8843-F7952BF506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5C8FBE-6C1E-45CF-9CC9-5F0051CF2C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979E92-EBBF-4F22-B901-B090897673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F63CE1-070A-4DFF-9192-96FEBA1B5E4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07EC28-0C07-42A1-934B-A514F0C706B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C7C0A4-29B3-4B6E-892C-F383850FF9B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58682B-31C4-4569-B1C6-592DBFB9260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&lt;data/godzina&gt;</a:t>
            </a:r>
            <a:endParaRPr b="0" lang="pl-PL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pl-PL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pl-PL" sz="1400" spc="-1" strike="noStrike">
                <a:latin typeface="Times New Roman"/>
              </a:rPr>
              <a:t>&lt;stopka&gt;</a:t>
            </a:r>
            <a:endParaRPr b="0" lang="pl-PL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1455193-4460-47D4-BA6B-FDC31E1AF9E5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&lt;numer&gt;</a:t>
            </a:fld>
            <a:endParaRPr b="0" lang="pl-PL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Kliknij, aby edytować format tekstu tytułu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Kliknij, aby edytować format tekstu konspektu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Drugi poziom konspektu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Trzeci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Czwarty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Piąty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Szósty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Siódmy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Rectangle 2"/>
          <p:cNvSpPr/>
          <p:nvPr/>
        </p:nvSpPr>
        <p:spPr>
          <a:xfrm>
            <a:off x="411480" y="6556320"/>
            <a:ext cx="10743840" cy="1800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" name="TextBox 3"/>
          <p:cNvSpPr/>
          <p:nvPr/>
        </p:nvSpPr>
        <p:spPr>
          <a:xfrm>
            <a:off x="998280" y="164520"/>
            <a:ext cx="17521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44" name="TextBox 4"/>
          <p:cNvSpPr/>
          <p:nvPr/>
        </p:nvSpPr>
        <p:spPr>
          <a:xfrm>
            <a:off x="10022400" y="164520"/>
            <a:ext cx="13971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45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46" name="TextBox 6"/>
          <p:cNvSpPr/>
          <p:nvPr/>
        </p:nvSpPr>
        <p:spPr>
          <a:xfrm>
            <a:off x="1568880" y="1417320"/>
            <a:ext cx="902304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000" spc="-1" strike="noStrike">
                <a:solidFill>
                  <a:srgbClr val="f6e540"/>
                </a:solidFill>
                <a:latin typeface="Arial"/>
              </a:rPr>
              <a:t>Uruchamianie aplikacji w Kubernetes</a:t>
            </a:r>
            <a:endParaRPr b="0" lang="pl-PL" sz="4000" spc="-1" strike="noStrike">
              <a:latin typeface="Arial"/>
            </a:endParaRPr>
          </a:p>
        </p:txBody>
      </p:sp>
      <p:sp>
        <p:nvSpPr>
          <p:cNvPr id="47" name="TextBox 7"/>
          <p:cNvSpPr/>
          <p:nvPr/>
        </p:nvSpPr>
        <p:spPr>
          <a:xfrm>
            <a:off x="1956960" y="2240280"/>
            <a:ext cx="8247240" cy="41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Courier New"/>
              </a:rPr>
              <a:t>kubectl • YAML • Pod • Deployment • Service</a:t>
            </a:r>
            <a:endParaRPr b="0" lang="pl-PL" sz="2500" spc="-1" strike="noStrike">
              <a:latin typeface="Arial"/>
            </a:endParaRPr>
          </a:p>
        </p:txBody>
      </p:sp>
      <p:sp>
        <p:nvSpPr>
          <p:cNvPr id="48" name="Rounded Rectangle 8"/>
          <p:cNvSpPr/>
          <p:nvPr/>
        </p:nvSpPr>
        <p:spPr>
          <a:xfrm>
            <a:off x="2700000" y="3703320"/>
            <a:ext cx="6397920" cy="77688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01240" rIns="164520" tIns="118800" bIns="82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apply -f deployment.yaml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1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" name="Rectangle 2"/>
          <p:cNvSpPr/>
          <p:nvPr/>
        </p:nvSpPr>
        <p:spPr>
          <a:xfrm>
            <a:off x="411480" y="6556320"/>
            <a:ext cx="10743840" cy="1800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" name="TextBox 3"/>
          <p:cNvSpPr/>
          <p:nvPr/>
        </p:nvSpPr>
        <p:spPr>
          <a:xfrm>
            <a:off x="998280" y="164520"/>
            <a:ext cx="17521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52" name="TextBox 4"/>
          <p:cNvSpPr/>
          <p:nvPr/>
        </p:nvSpPr>
        <p:spPr>
          <a:xfrm>
            <a:off x="10022400" y="164520"/>
            <a:ext cx="13971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53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54" name="TextBox 6"/>
          <p:cNvSpPr/>
          <p:nvPr/>
        </p:nvSpPr>
        <p:spPr>
          <a:xfrm>
            <a:off x="4923360" y="713160"/>
            <a:ext cx="240588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Cel modułu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55" name="TextBox 7"/>
          <p:cNvSpPr/>
          <p:nvPr/>
        </p:nvSpPr>
        <p:spPr>
          <a:xfrm>
            <a:off x="2099160" y="1828800"/>
            <a:ext cx="8236800" cy="250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45720" tIns="1836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• </a:t>
            </a: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uruchomić pierwszą aplikację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• </a:t>
            </a: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zobaczyć różnicę między Podem, Deploymentem i Service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• </a:t>
            </a: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wygenerować manifest YAML z komendy kubectl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• </a:t>
            </a: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nauczyć się bezpiecznie wklejać manifesty w vi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• </a:t>
            </a: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sprawdzić stan aplikacji podstawowymi komendami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1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" name="Rectangle 2"/>
          <p:cNvSpPr/>
          <p:nvPr/>
        </p:nvSpPr>
        <p:spPr>
          <a:xfrm>
            <a:off x="411480" y="6556320"/>
            <a:ext cx="10743840" cy="1800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" name="TextBox 3"/>
          <p:cNvSpPr/>
          <p:nvPr/>
        </p:nvSpPr>
        <p:spPr>
          <a:xfrm>
            <a:off x="998280" y="164520"/>
            <a:ext cx="17521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59" name="TextBox 4"/>
          <p:cNvSpPr/>
          <p:nvPr/>
        </p:nvSpPr>
        <p:spPr>
          <a:xfrm>
            <a:off x="10022400" y="164520"/>
            <a:ext cx="13971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60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61" name="TextBox 6"/>
          <p:cNvSpPr/>
          <p:nvPr/>
        </p:nvSpPr>
        <p:spPr>
          <a:xfrm>
            <a:off x="3766680" y="713160"/>
            <a:ext cx="471924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fffff"/>
                </a:solidFill>
                <a:latin typeface="Courier New"/>
              </a:rPr>
              <a:t>kubectl w praktyce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62" name="Rounded Rectangle 7"/>
          <p:cNvSpPr/>
          <p:nvPr/>
        </p:nvSpPr>
        <p:spPr>
          <a:xfrm>
            <a:off x="914400" y="1828800"/>
            <a:ext cx="3108600" cy="1051200"/>
          </a:xfrm>
          <a:prstGeom prst="roundRect">
            <a:avLst>
              <a:gd name="adj" fmla="val 16667"/>
            </a:avLst>
          </a:prstGeom>
          <a:solidFill>
            <a:srgbClr val="34477f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ctr">
            <a:no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ourier New"/>
              </a:rPr>
              <a:t>get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ourier New"/>
              </a:rPr>
              <a:t>lista obiektów</a:t>
            </a:r>
            <a:endParaRPr b="0" lang="pl-PL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ourier New"/>
              </a:rPr>
              <a:t>kubectl get pods</a:t>
            </a:r>
            <a:endParaRPr b="0" lang="pl-PL" sz="1700" spc="-1" strike="noStrike">
              <a:latin typeface="Arial"/>
            </a:endParaRPr>
          </a:p>
        </p:txBody>
      </p:sp>
      <p:sp>
        <p:nvSpPr>
          <p:cNvPr id="63" name="Rounded Rectangle 8"/>
          <p:cNvSpPr/>
          <p:nvPr/>
        </p:nvSpPr>
        <p:spPr>
          <a:xfrm>
            <a:off x="4526280" y="1828800"/>
            <a:ext cx="3108600" cy="1051200"/>
          </a:xfrm>
          <a:prstGeom prst="roundRect">
            <a:avLst>
              <a:gd name="adj" fmla="val 16667"/>
            </a:avLst>
          </a:prstGeom>
          <a:solidFill>
            <a:srgbClr val="34477f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ctr">
            <a:no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ourier New"/>
              </a:rPr>
              <a:t>describe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ourier New"/>
              </a:rPr>
              <a:t>szczegóły i eventy</a:t>
            </a:r>
            <a:endParaRPr b="0" lang="pl-PL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ourier New"/>
              </a:rPr>
              <a:t>kubectl describe pod</a:t>
            </a:r>
            <a:endParaRPr b="0" lang="pl-PL" sz="1700" spc="-1" strike="noStrike">
              <a:latin typeface="Arial"/>
            </a:endParaRPr>
          </a:p>
        </p:txBody>
      </p:sp>
      <p:sp>
        <p:nvSpPr>
          <p:cNvPr id="64" name="Rounded Rectangle 9"/>
          <p:cNvSpPr/>
          <p:nvPr/>
        </p:nvSpPr>
        <p:spPr>
          <a:xfrm>
            <a:off x="8138160" y="1828800"/>
            <a:ext cx="3108600" cy="1051200"/>
          </a:xfrm>
          <a:prstGeom prst="roundRect">
            <a:avLst>
              <a:gd name="adj" fmla="val 16667"/>
            </a:avLst>
          </a:prstGeom>
          <a:solidFill>
            <a:srgbClr val="34477f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ctr">
            <a:no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ourier New"/>
              </a:rPr>
              <a:t>logs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ourier New"/>
              </a:rPr>
              <a:t>logi aplikacji</a:t>
            </a:r>
            <a:endParaRPr b="0" lang="pl-PL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ourier New"/>
              </a:rPr>
              <a:t>kubectl logs</a:t>
            </a:r>
            <a:endParaRPr b="0" lang="pl-PL" sz="1700" spc="-1" strike="noStrike">
              <a:latin typeface="Arial"/>
            </a:endParaRPr>
          </a:p>
        </p:txBody>
      </p:sp>
      <p:sp>
        <p:nvSpPr>
          <p:cNvPr id="65" name="Rounded Rectangle 10"/>
          <p:cNvSpPr/>
          <p:nvPr/>
        </p:nvSpPr>
        <p:spPr>
          <a:xfrm>
            <a:off x="2743200" y="3657600"/>
            <a:ext cx="3108600" cy="1382400"/>
          </a:xfrm>
          <a:prstGeom prst="roundRect">
            <a:avLst>
              <a:gd name="adj" fmla="val 16667"/>
            </a:avLst>
          </a:prstGeom>
          <a:solidFill>
            <a:srgbClr val="34477f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ctr">
            <a:no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ourier New"/>
              </a:rPr>
              <a:t>apply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ourier New"/>
              </a:rPr>
              <a:t>tworzenie / aktualizacja</a:t>
            </a:r>
            <a:endParaRPr b="0" lang="pl-PL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ourier New"/>
              </a:rPr>
              <a:t>kubectl apply -f</a:t>
            </a:r>
            <a:endParaRPr b="0" lang="pl-PL" sz="1700" spc="-1" strike="noStrike">
              <a:latin typeface="Arial"/>
            </a:endParaRPr>
          </a:p>
        </p:txBody>
      </p:sp>
      <p:sp>
        <p:nvSpPr>
          <p:cNvPr id="66" name="Rounded Rectangle 11"/>
          <p:cNvSpPr/>
          <p:nvPr/>
        </p:nvSpPr>
        <p:spPr>
          <a:xfrm>
            <a:off x="6400800" y="3657600"/>
            <a:ext cx="3108600" cy="1382400"/>
          </a:xfrm>
          <a:prstGeom prst="roundRect">
            <a:avLst>
              <a:gd name="adj" fmla="val 16667"/>
            </a:avLst>
          </a:prstGeom>
          <a:solidFill>
            <a:srgbClr val="34477f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ctr">
            <a:noAutofit/>
          </a:bodyPr>
          <a:p>
            <a:pPr>
              <a:lnSpc>
                <a:spcPct val="100000"/>
              </a:lnSpc>
              <a:spcAft>
                <a:spcPts val="700"/>
              </a:spcAft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Courier New"/>
              </a:rPr>
              <a:t>delete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ourier New"/>
              </a:rPr>
              <a:t>sprzątanie</a:t>
            </a:r>
            <a:endParaRPr b="0" lang="pl-PL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ourier New"/>
              </a:rPr>
              <a:t>kubectl delete -f</a:t>
            </a:r>
            <a:endParaRPr b="0" lang="pl-PL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8" name="Rectangle 2"/>
          <p:cNvSpPr/>
          <p:nvPr/>
        </p:nvSpPr>
        <p:spPr>
          <a:xfrm>
            <a:off x="411480" y="6556320"/>
            <a:ext cx="10743840" cy="1800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9" name="TextBox 3"/>
          <p:cNvSpPr/>
          <p:nvPr/>
        </p:nvSpPr>
        <p:spPr>
          <a:xfrm>
            <a:off x="998280" y="164520"/>
            <a:ext cx="17521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10022400" y="164520"/>
            <a:ext cx="13971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71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72" name="TextBox 6"/>
          <p:cNvSpPr/>
          <p:nvPr/>
        </p:nvSpPr>
        <p:spPr>
          <a:xfrm>
            <a:off x="4827240" y="713160"/>
            <a:ext cx="259776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CLI → YAML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3335400" y="1691640"/>
            <a:ext cx="54903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Najlepszy sposób na naukę manifestów: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74" name="Rounded Rectangle 8"/>
          <p:cNvSpPr/>
          <p:nvPr/>
        </p:nvSpPr>
        <p:spPr>
          <a:xfrm>
            <a:off x="1645920" y="2423160"/>
            <a:ext cx="8960760" cy="91404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01240" rIns="164520" tIns="118800" bIns="82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Courier New"/>
              </a:rPr>
              <a:t>kubectl create ... --dry-run=client -o yaml</a:t>
            </a:r>
            <a:endParaRPr b="0" lang="pl-PL" sz="2500" spc="-1" strike="noStrike">
              <a:latin typeface="Arial"/>
            </a:endParaRPr>
          </a:p>
        </p:txBody>
      </p:sp>
      <p:sp>
        <p:nvSpPr>
          <p:cNvPr id="75" name="TextBox 9"/>
          <p:cNvSpPr/>
          <p:nvPr/>
        </p:nvSpPr>
        <p:spPr>
          <a:xfrm>
            <a:off x="631800" y="3703320"/>
            <a:ext cx="1089756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Komenda nie tworzy obiektu — tylko pokazuje YAML, który można zapisać do pliku.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76" name="Rounded Rectangle 10"/>
          <p:cNvSpPr/>
          <p:nvPr/>
        </p:nvSpPr>
        <p:spPr>
          <a:xfrm>
            <a:off x="2148840" y="4617720"/>
            <a:ext cx="7954920" cy="68544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01240" rIns="164520" tIns="118800" bIns="82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... --dry-run=client -o yaml &gt; manifest.yaml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8" name="Rectangle 2"/>
          <p:cNvSpPr/>
          <p:nvPr/>
        </p:nvSpPr>
        <p:spPr>
          <a:xfrm>
            <a:off x="411480" y="6556320"/>
            <a:ext cx="10743840" cy="1800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9" name="TextBox 3"/>
          <p:cNvSpPr/>
          <p:nvPr/>
        </p:nvSpPr>
        <p:spPr>
          <a:xfrm>
            <a:off x="998280" y="164520"/>
            <a:ext cx="17521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80" name="TextBox 4"/>
          <p:cNvSpPr/>
          <p:nvPr/>
        </p:nvSpPr>
        <p:spPr>
          <a:xfrm>
            <a:off x="10022400" y="164520"/>
            <a:ext cx="13971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81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82" name="TextBox 6"/>
          <p:cNvSpPr/>
          <p:nvPr/>
        </p:nvSpPr>
        <p:spPr>
          <a:xfrm>
            <a:off x="1651320" y="713160"/>
            <a:ext cx="894996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YAML — minimum potrzebne w Kubernetes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83" name="Rounded Rectangle 7"/>
          <p:cNvSpPr/>
          <p:nvPr/>
        </p:nvSpPr>
        <p:spPr>
          <a:xfrm>
            <a:off x="822960" y="1645920"/>
            <a:ext cx="5440320" cy="310860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01240" rIns="164520" tIns="118800" bIns="82440" anchor="ctr">
            <a:no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ourier New"/>
              </a:rPr>
              <a:t>pod.yaml</a:t>
            </a:r>
            <a:endParaRPr b="0" lang="pl-PL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apiVersion: v1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kind: Pod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metadata: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name: qa-web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spec: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containers: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  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- name: nginx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      </a:t>
            </a: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image: nginx:1.27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84" name="TextBox 8"/>
          <p:cNvSpPr/>
          <p:nvPr/>
        </p:nvSpPr>
        <p:spPr>
          <a:xfrm>
            <a:off x="7475760" y="1691640"/>
            <a:ext cx="3107160" cy="28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45720" tIns="18360" bIns="4500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wcięcia mają znaczenie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spacje zamiast tabów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listy zaczynają się od '-'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każdy manifest ma: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  </a:t>
            </a: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apiVersion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  </a:t>
            </a: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kind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  </a:t>
            </a: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metadata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  </a:t>
            </a: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spec</a:t>
            </a:r>
            <a:endParaRPr b="0" lang="pl-PL" sz="2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6" name="Rectangle 2"/>
          <p:cNvSpPr/>
          <p:nvPr/>
        </p:nvSpPr>
        <p:spPr>
          <a:xfrm>
            <a:off x="411480" y="6556320"/>
            <a:ext cx="10743840" cy="1800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7" name="TextBox 3"/>
          <p:cNvSpPr/>
          <p:nvPr/>
        </p:nvSpPr>
        <p:spPr>
          <a:xfrm>
            <a:off x="998280" y="164520"/>
            <a:ext cx="17521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88" name="TextBox 4"/>
          <p:cNvSpPr/>
          <p:nvPr/>
        </p:nvSpPr>
        <p:spPr>
          <a:xfrm>
            <a:off x="10022400" y="164520"/>
            <a:ext cx="13971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89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90" name="TextBox 6"/>
          <p:cNvSpPr/>
          <p:nvPr/>
        </p:nvSpPr>
        <p:spPr>
          <a:xfrm>
            <a:off x="2539080" y="713160"/>
            <a:ext cx="717444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vi: bezpieczne wklejanie manifestu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91" name="TextBox 7"/>
          <p:cNvSpPr/>
          <p:nvPr/>
        </p:nvSpPr>
        <p:spPr>
          <a:xfrm>
            <a:off x="2493360" y="1600200"/>
            <a:ext cx="717444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Przy wklejaniu YAML-a do vi najpierw włącz tryb paste.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92" name="Rounded Rectangle 8"/>
          <p:cNvSpPr/>
          <p:nvPr/>
        </p:nvSpPr>
        <p:spPr>
          <a:xfrm>
            <a:off x="1828800" y="2148840"/>
            <a:ext cx="8503560" cy="269712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01240" rIns="164520" tIns="9144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</a:rPr>
              <a:t>vi pod.yaml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</a:rPr>
              <a:t>:set paste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</a:rPr>
              <a:t>i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</a:rPr>
              <a:t># teraz wklejamy manifest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</a:rPr>
              <a:t>Esc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</a:rPr>
              <a:t>:wq</a:t>
            </a:r>
            <a:endParaRPr b="0" lang="pl-PL" sz="2100" spc="-1" strike="noStrike">
              <a:latin typeface="Arial"/>
            </a:endParaRPr>
          </a:p>
        </p:txBody>
      </p:sp>
      <p:sp>
        <p:nvSpPr>
          <p:cNvPr id="93" name="TextBox 9"/>
          <p:cNvSpPr/>
          <p:nvPr/>
        </p:nvSpPr>
        <p:spPr>
          <a:xfrm>
            <a:off x="1980360" y="5074920"/>
            <a:ext cx="820008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To chroni przed automatycznymi wcięciami, które potrafią zepsuć YAML.</a:t>
            </a:r>
            <a:endParaRPr b="0" lang="pl-PL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5" name="Rectangle 2"/>
          <p:cNvSpPr/>
          <p:nvPr/>
        </p:nvSpPr>
        <p:spPr>
          <a:xfrm>
            <a:off x="411480" y="6556320"/>
            <a:ext cx="10743840" cy="1800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6" name="TextBox 3"/>
          <p:cNvSpPr/>
          <p:nvPr/>
        </p:nvSpPr>
        <p:spPr>
          <a:xfrm>
            <a:off x="998280" y="164520"/>
            <a:ext cx="17521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97" name="TextBox 4"/>
          <p:cNvSpPr/>
          <p:nvPr/>
        </p:nvSpPr>
        <p:spPr>
          <a:xfrm>
            <a:off x="10022400" y="164520"/>
            <a:ext cx="13971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98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99" name="TextBox 6"/>
          <p:cNvSpPr/>
          <p:nvPr/>
        </p:nvSpPr>
        <p:spPr>
          <a:xfrm>
            <a:off x="3256920" y="713160"/>
            <a:ext cx="573876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Pierwszy Pod — z komendy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00" name="Rounded Rectangle 7"/>
          <p:cNvSpPr/>
          <p:nvPr/>
        </p:nvSpPr>
        <p:spPr>
          <a:xfrm>
            <a:off x="1508760" y="1965960"/>
            <a:ext cx="9143640" cy="127980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01240" rIns="164520" tIns="118800" bIns="82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run qa-web --image=nginx:1.27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get pods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describe pod qa-web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101" name="TextBox 8"/>
          <p:cNvSpPr/>
          <p:nvPr/>
        </p:nvSpPr>
        <p:spPr>
          <a:xfrm>
            <a:off x="1905120" y="3794760"/>
            <a:ext cx="8350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Pod to najmniejsza jednostka uruchomieniowa w Kubernetes.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3" name="Rectangle 2"/>
          <p:cNvSpPr/>
          <p:nvPr/>
        </p:nvSpPr>
        <p:spPr>
          <a:xfrm>
            <a:off x="411480" y="6556320"/>
            <a:ext cx="10743840" cy="1800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4" name="TextBox 3"/>
          <p:cNvSpPr/>
          <p:nvPr/>
        </p:nvSpPr>
        <p:spPr>
          <a:xfrm>
            <a:off x="998280" y="164520"/>
            <a:ext cx="17521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05" name="TextBox 4"/>
          <p:cNvSpPr/>
          <p:nvPr/>
        </p:nvSpPr>
        <p:spPr>
          <a:xfrm>
            <a:off x="10022400" y="164520"/>
            <a:ext cx="13971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06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07" name="TextBox 6"/>
          <p:cNvSpPr/>
          <p:nvPr/>
        </p:nvSpPr>
        <p:spPr>
          <a:xfrm>
            <a:off x="3783960" y="713160"/>
            <a:ext cx="468432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Pierwszy Pod — YAML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08" name="Rounded Rectangle 7"/>
          <p:cNvSpPr/>
          <p:nvPr/>
        </p:nvSpPr>
        <p:spPr>
          <a:xfrm>
            <a:off x="777240" y="1600200"/>
            <a:ext cx="5577480" cy="333720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01240" rIns="164520" tIns="118800" bIns="82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ffffff"/>
                </a:solidFill>
                <a:latin typeface="Courier New"/>
              </a:rPr>
              <a:t>kubectl run qa-web \</a:t>
            </a:r>
            <a:endParaRPr b="0" lang="pl-PL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ffffff"/>
                </a:solidFill>
                <a:latin typeface="Courier New"/>
              </a:rPr>
              <a:t>  </a:t>
            </a:r>
            <a:r>
              <a:rPr b="0" lang="en-US" sz="1900" spc="-1" strike="noStrike">
                <a:solidFill>
                  <a:srgbClr val="ffffff"/>
                </a:solidFill>
                <a:latin typeface="Courier New"/>
              </a:rPr>
              <a:t>--image=nginx:1.27 \</a:t>
            </a:r>
            <a:endParaRPr b="0" lang="pl-PL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ffffff"/>
                </a:solidFill>
                <a:latin typeface="Courier New"/>
              </a:rPr>
              <a:t>  </a:t>
            </a:r>
            <a:r>
              <a:rPr b="0" lang="en-US" sz="1900" spc="-1" strike="noStrike">
                <a:solidFill>
                  <a:srgbClr val="ffffff"/>
                </a:solidFill>
                <a:latin typeface="Courier New"/>
              </a:rPr>
              <a:t>--dry-run=client -o yaml &gt; pod.yaml</a:t>
            </a:r>
            <a:endParaRPr b="0" lang="pl-PL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endParaRPr b="0" lang="pl-PL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ffffff"/>
                </a:solidFill>
                <a:latin typeface="Courier New"/>
              </a:rPr>
              <a:t>vi pod.yaml</a:t>
            </a:r>
            <a:endParaRPr b="0" lang="pl-PL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ffffff"/>
                </a:solidFill>
                <a:latin typeface="Courier New"/>
              </a:rPr>
              <a:t>kubectl apply -f pod.yaml</a:t>
            </a:r>
            <a:endParaRPr b="0" lang="pl-PL" sz="1900" spc="-1" strike="noStrike">
              <a:latin typeface="Arial"/>
            </a:endParaRPr>
          </a:p>
        </p:txBody>
      </p:sp>
      <p:sp>
        <p:nvSpPr>
          <p:cNvPr id="109" name="Rounded Rectangle 8"/>
          <p:cNvSpPr/>
          <p:nvPr/>
        </p:nvSpPr>
        <p:spPr>
          <a:xfrm>
            <a:off x="6720840" y="1600200"/>
            <a:ext cx="4617360" cy="333720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01240" rIns="164520" tIns="118800" bIns="82440" anchor="ctr">
            <a:noAutofit/>
          </a:bodyPr>
          <a:p>
            <a:pPr>
              <a:lnSpc>
                <a:spcPct val="100000"/>
              </a:lnSpc>
              <a:spcAft>
                <a:spcPts val="799"/>
              </a:spcAft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ourier New"/>
              </a:rPr>
              <a:t>sprawdzenie</a:t>
            </a:r>
            <a:endParaRPr b="0" lang="pl-PL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</a:rPr>
              <a:t>kubectl get pod qa-web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</a:rPr>
              <a:t>kubectl delete pod qa-web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</a:rPr>
              <a:t>kubectl apply -f pod.yaml</a:t>
            </a:r>
            <a:endParaRPr b="0" lang="pl-PL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1" name="Rectangle 2"/>
          <p:cNvSpPr/>
          <p:nvPr/>
        </p:nvSpPr>
        <p:spPr>
          <a:xfrm>
            <a:off x="411480" y="6556320"/>
            <a:ext cx="10743840" cy="1800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2" name="TextBox 3"/>
          <p:cNvSpPr/>
          <p:nvPr/>
        </p:nvSpPr>
        <p:spPr>
          <a:xfrm>
            <a:off x="998280" y="164520"/>
            <a:ext cx="17521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13" name="TextBox 4"/>
          <p:cNvSpPr/>
          <p:nvPr/>
        </p:nvSpPr>
        <p:spPr>
          <a:xfrm>
            <a:off x="10022400" y="164520"/>
            <a:ext cx="13971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14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15" name="TextBox 6"/>
          <p:cNvSpPr/>
          <p:nvPr/>
        </p:nvSpPr>
        <p:spPr>
          <a:xfrm>
            <a:off x="4864680" y="713160"/>
            <a:ext cx="252324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Deployment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16" name="TextBox 7"/>
          <p:cNvSpPr/>
          <p:nvPr/>
        </p:nvSpPr>
        <p:spPr>
          <a:xfrm>
            <a:off x="1981080" y="1627560"/>
            <a:ext cx="819864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Deployment zarządza Podami i pilnuje, żeby aplikacja działała.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117" name="Rounded Rectangle 8"/>
          <p:cNvSpPr/>
          <p:nvPr/>
        </p:nvSpPr>
        <p:spPr>
          <a:xfrm>
            <a:off x="900000" y="2423160"/>
            <a:ext cx="10260000" cy="132552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01240" rIns="164520" tIns="118800" bIns="82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</a:rPr>
              <a:t>kubectl create deployment qa-web --image=nginx:1.27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118" name="Rounded Rectangle 9"/>
          <p:cNvSpPr/>
          <p:nvPr/>
        </p:nvSpPr>
        <p:spPr>
          <a:xfrm>
            <a:off x="1508760" y="4160520"/>
            <a:ext cx="9143640" cy="73116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01240" rIns="164520" tIns="118800" bIns="82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get deployments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get pods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0" name="Rectangle 2"/>
          <p:cNvSpPr/>
          <p:nvPr/>
        </p:nvSpPr>
        <p:spPr>
          <a:xfrm>
            <a:off x="411480" y="6556320"/>
            <a:ext cx="10743840" cy="1800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1" name="TextBox 3"/>
          <p:cNvSpPr/>
          <p:nvPr/>
        </p:nvSpPr>
        <p:spPr>
          <a:xfrm>
            <a:off x="998280" y="164520"/>
            <a:ext cx="17521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22" name="TextBox 4"/>
          <p:cNvSpPr/>
          <p:nvPr/>
        </p:nvSpPr>
        <p:spPr>
          <a:xfrm>
            <a:off x="10022400" y="164520"/>
            <a:ext cx="13971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23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24" name="TextBox 6"/>
          <p:cNvSpPr/>
          <p:nvPr/>
        </p:nvSpPr>
        <p:spPr>
          <a:xfrm>
            <a:off x="2659320" y="713160"/>
            <a:ext cx="693360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Deployment — manifest z kubectl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25" name="Rounded Rectangle 7"/>
          <p:cNvSpPr/>
          <p:nvPr/>
        </p:nvSpPr>
        <p:spPr>
          <a:xfrm>
            <a:off x="1005840" y="1600200"/>
            <a:ext cx="10149480" cy="127980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01240" rIns="164520" tIns="118800" bIns="82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create deployment qa-web \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  </a:t>
            </a: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--image=nginx:1.27 \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  </a:t>
            </a: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--dry-run=client -o yaml &gt; deployment.yaml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126" name="TextBox 8"/>
          <p:cNvSpPr/>
          <p:nvPr/>
        </p:nvSpPr>
        <p:spPr>
          <a:xfrm>
            <a:off x="2389680" y="3246120"/>
            <a:ext cx="738180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Edytujemy YAML, a potem stosujemy zmianę w klastrze.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127" name="Rounded Rectangle 9"/>
          <p:cNvSpPr/>
          <p:nvPr/>
        </p:nvSpPr>
        <p:spPr>
          <a:xfrm>
            <a:off x="2057400" y="3977640"/>
            <a:ext cx="8137800" cy="91404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01240" rIns="164520" tIns="118800" bIns="82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vi deployment.yaml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apply -f deployment.yaml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9" name="Rectangle 2"/>
          <p:cNvSpPr/>
          <p:nvPr/>
        </p:nvSpPr>
        <p:spPr>
          <a:xfrm>
            <a:off x="411480" y="6556320"/>
            <a:ext cx="10743840" cy="1800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0" name="TextBox 3"/>
          <p:cNvSpPr/>
          <p:nvPr/>
        </p:nvSpPr>
        <p:spPr>
          <a:xfrm>
            <a:off x="998280" y="164520"/>
            <a:ext cx="17521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31" name="TextBox 4"/>
          <p:cNvSpPr/>
          <p:nvPr/>
        </p:nvSpPr>
        <p:spPr>
          <a:xfrm>
            <a:off x="10022400" y="164520"/>
            <a:ext cx="13971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32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33" name="TextBox 6"/>
          <p:cNvSpPr/>
          <p:nvPr/>
        </p:nvSpPr>
        <p:spPr>
          <a:xfrm>
            <a:off x="4012560" y="713160"/>
            <a:ext cx="422712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Skalowanie aplikacji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34" name="Rounded Rectangle 7"/>
          <p:cNvSpPr/>
          <p:nvPr/>
        </p:nvSpPr>
        <p:spPr>
          <a:xfrm>
            <a:off x="1508760" y="1828800"/>
            <a:ext cx="9143640" cy="109692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01240" rIns="164520" tIns="118800" bIns="82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</a:rPr>
              <a:t>kubectl scale deployment qa-web --replicas=3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</a:rPr>
              <a:t>kubectl get pods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135" name="TextBox 8"/>
          <p:cNvSpPr/>
          <p:nvPr/>
        </p:nvSpPr>
        <p:spPr>
          <a:xfrm>
            <a:off x="2113920" y="3383280"/>
            <a:ext cx="793332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Deployment tworzy tyle Podów, ile zadeklarujemy w replicas.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136" name="Rounded Rectangle 9"/>
          <p:cNvSpPr/>
          <p:nvPr/>
        </p:nvSpPr>
        <p:spPr>
          <a:xfrm>
            <a:off x="1828800" y="4251960"/>
            <a:ext cx="2194200" cy="594000"/>
          </a:xfrm>
          <a:prstGeom prst="roundRect">
            <a:avLst>
              <a:gd name="adj" fmla="val 16667"/>
            </a:avLst>
          </a:prstGeom>
          <a:solidFill>
            <a:srgbClr val="34477f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6e540"/>
                </a:solidFill>
                <a:latin typeface="Arial"/>
              </a:rPr>
              <a:t>Pod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137" name="Rounded Rectangle 10"/>
          <p:cNvSpPr/>
          <p:nvPr/>
        </p:nvSpPr>
        <p:spPr>
          <a:xfrm>
            <a:off x="4983480" y="4251960"/>
            <a:ext cx="2194200" cy="594000"/>
          </a:xfrm>
          <a:prstGeom prst="roundRect">
            <a:avLst>
              <a:gd name="adj" fmla="val 16667"/>
            </a:avLst>
          </a:prstGeom>
          <a:solidFill>
            <a:srgbClr val="34477f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6e540"/>
                </a:solidFill>
                <a:latin typeface="Arial"/>
              </a:rPr>
              <a:t>Pod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138" name="Rounded Rectangle 11"/>
          <p:cNvSpPr/>
          <p:nvPr/>
        </p:nvSpPr>
        <p:spPr>
          <a:xfrm>
            <a:off x="8138160" y="4251960"/>
            <a:ext cx="2194200" cy="594000"/>
          </a:xfrm>
          <a:prstGeom prst="roundRect">
            <a:avLst>
              <a:gd name="adj" fmla="val 16667"/>
            </a:avLst>
          </a:prstGeom>
          <a:solidFill>
            <a:srgbClr val="34477f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64520" tIns="109800" bIns="9144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6e540"/>
                </a:solidFill>
                <a:latin typeface="Arial"/>
              </a:rPr>
              <a:t>Pod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0" name="Rectangle 2"/>
          <p:cNvSpPr/>
          <p:nvPr/>
        </p:nvSpPr>
        <p:spPr>
          <a:xfrm>
            <a:off x="411480" y="6556320"/>
            <a:ext cx="10743840" cy="1800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1" name="TextBox 3"/>
          <p:cNvSpPr/>
          <p:nvPr/>
        </p:nvSpPr>
        <p:spPr>
          <a:xfrm>
            <a:off x="998280" y="164520"/>
            <a:ext cx="17521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42" name="TextBox 4"/>
          <p:cNvSpPr/>
          <p:nvPr/>
        </p:nvSpPr>
        <p:spPr>
          <a:xfrm>
            <a:off x="10022400" y="164520"/>
            <a:ext cx="13971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43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44" name="TextBox 6"/>
          <p:cNvSpPr/>
          <p:nvPr/>
        </p:nvSpPr>
        <p:spPr>
          <a:xfrm>
            <a:off x="4312800" y="713160"/>
            <a:ext cx="362664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Pod Management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45" name="Rounded Rectangle 7"/>
          <p:cNvSpPr/>
          <p:nvPr/>
        </p:nvSpPr>
        <p:spPr>
          <a:xfrm>
            <a:off x="1325880" y="1783080"/>
            <a:ext cx="9509400" cy="127692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01240" rIns="164520" tIns="118800" bIns="82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</a:rPr>
              <a:t>kubectl get pods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</a:rPr>
              <a:t>kubectl delete pod &lt;pod-name&gt;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</a:rPr>
              <a:t>kubectl get pods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146" name="TextBox 8"/>
          <p:cNvSpPr/>
          <p:nvPr/>
        </p:nvSpPr>
        <p:spPr>
          <a:xfrm>
            <a:off x="2504880" y="3383280"/>
            <a:ext cx="7151400" cy="4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600" spc="-1" strike="noStrike">
                <a:solidFill>
                  <a:srgbClr val="f6e540"/>
                </a:solidFill>
                <a:latin typeface="Arial"/>
              </a:rPr>
              <a:t>Jeśli Pod zniknie, Deployment utworzy nowy.</a:t>
            </a:r>
            <a:endParaRPr b="0" lang="pl-PL" sz="2600" spc="-1" strike="noStrike">
              <a:latin typeface="Arial"/>
            </a:endParaRPr>
          </a:p>
        </p:txBody>
      </p:sp>
      <p:sp>
        <p:nvSpPr>
          <p:cNvPr id="147" name="TextBox 9"/>
          <p:cNvSpPr/>
          <p:nvPr/>
        </p:nvSpPr>
        <p:spPr>
          <a:xfrm>
            <a:off x="2181600" y="4160520"/>
            <a:ext cx="7706160" cy="38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To jest podstawowy mechanizm self-healing w Kubernetes.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9" name="Rectangle 2"/>
          <p:cNvSpPr/>
          <p:nvPr/>
        </p:nvSpPr>
        <p:spPr>
          <a:xfrm>
            <a:off x="411480" y="6556320"/>
            <a:ext cx="10743840" cy="1800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0" name="TextBox 3"/>
          <p:cNvSpPr/>
          <p:nvPr/>
        </p:nvSpPr>
        <p:spPr>
          <a:xfrm>
            <a:off x="998280" y="164520"/>
            <a:ext cx="17521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51" name="TextBox 4"/>
          <p:cNvSpPr/>
          <p:nvPr/>
        </p:nvSpPr>
        <p:spPr>
          <a:xfrm>
            <a:off x="10022400" y="164520"/>
            <a:ext cx="13971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52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53" name="TextBox 6"/>
          <p:cNvSpPr/>
          <p:nvPr/>
        </p:nvSpPr>
        <p:spPr>
          <a:xfrm>
            <a:off x="5331600" y="713160"/>
            <a:ext cx="158904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Service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54" name="TextBox 7"/>
          <p:cNvSpPr/>
          <p:nvPr/>
        </p:nvSpPr>
        <p:spPr>
          <a:xfrm>
            <a:off x="3097440" y="1508760"/>
            <a:ext cx="5965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Service daje stały adres dostępu do Podów.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155" name="Rounded Rectangle 8"/>
          <p:cNvSpPr/>
          <p:nvPr/>
        </p:nvSpPr>
        <p:spPr>
          <a:xfrm>
            <a:off x="1417320" y="2148840"/>
            <a:ext cx="9417960" cy="132552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01240" rIns="164520" tIns="118800" bIns="82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expose deployment qa-web \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  </a:t>
            </a: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--port=80 \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  </a:t>
            </a: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--target-port=80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156" name="Rounded Rectangle 9"/>
          <p:cNvSpPr/>
          <p:nvPr/>
        </p:nvSpPr>
        <p:spPr>
          <a:xfrm>
            <a:off x="1417320" y="4892040"/>
            <a:ext cx="9417960" cy="68544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01240" rIns="164520" tIns="118800" bIns="82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kubectl get svc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kubectl describe svc qa-web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157" name="Rounded Rectangle 10"/>
          <p:cNvSpPr/>
          <p:nvPr/>
        </p:nvSpPr>
        <p:spPr>
          <a:xfrm>
            <a:off x="1417320" y="3703320"/>
            <a:ext cx="9417960" cy="868320"/>
          </a:xfrm>
          <a:prstGeom prst="roundRect">
            <a:avLst>
              <a:gd name="adj" fmla="val 16667"/>
            </a:avLst>
          </a:prstGeom>
          <a:solidFill>
            <a:srgbClr val="324073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91440" bIns="45000" anchor="ctr">
            <a:noAutofit/>
          </a:bodyPr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port = port Service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targetPort = port kontenera/Poda, do którego Service przekazuje ruch</a:t>
            </a:r>
            <a:endParaRPr b="0" lang="pl-PL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 1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9" name="Rectangle 2"/>
          <p:cNvSpPr/>
          <p:nvPr/>
        </p:nvSpPr>
        <p:spPr>
          <a:xfrm>
            <a:off x="411480" y="6556320"/>
            <a:ext cx="10743840" cy="1800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0" name="TextBox 3"/>
          <p:cNvSpPr/>
          <p:nvPr/>
        </p:nvSpPr>
        <p:spPr>
          <a:xfrm>
            <a:off x="998280" y="164520"/>
            <a:ext cx="17521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61" name="TextBox 4"/>
          <p:cNvSpPr/>
          <p:nvPr/>
        </p:nvSpPr>
        <p:spPr>
          <a:xfrm>
            <a:off x="10022400" y="164520"/>
            <a:ext cx="13971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62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63" name="TextBox 6"/>
          <p:cNvSpPr/>
          <p:nvPr/>
        </p:nvSpPr>
        <p:spPr>
          <a:xfrm>
            <a:off x="1823400" y="713160"/>
            <a:ext cx="860544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fffff"/>
                </a:solidFill>
                <a:latin typeface="Courier New"/>
              </a:rPr>
              <a:t>Dostęp do aplikacji: port-forward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64" name="Rounded Rectangle 7"/>
          <p:cNvSpPr/>
          <p:nvPr/>
        </p:nvSpPr>
        <p:spPr>
          <a:xfrm>
            <a:off x="1417320" y="2057400"/>
            <a:ext cx="9417960" cy="109692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01240" rIns="164520" tIns="118800" bIns="82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</a:rPr>
              <a:t>kubectl port-forward svc/qa-web 8080:80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</a:rPr>
              <a:t>curl http://localhost:8080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165" name="TextBox 8"/>
          <p:cNvSpPr/>
          <p:nvPr/>
        </p:nvSpPr>
        <p:spPr>
          <a:xfrm>
            <a:off x="2745360" y="3611880"/>
            <a:ext cx="6670080" cy="70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port-forward jest najprostszą metodą sprawdzenia aplikacji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bez Ingressa i LoadBalancera.</a:t>
            </a:r>
            <a:endParaRPr b="0" lang="pl-PL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7" name="Rectangle 2"/>
          <p:cNvSpPr/>
          <p:nvPr/>
        </p:nvSpPr>
        <p:spPr>
          <a:xfrm>
            <a:off x="411480" y="6556320"/>
            <a:ext cx="10743840" cy="1800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8" name="TextBox 3"/>
          <p:cNvSpPr/>
          <p:nvPr/>
        </p:nvSpPr>
        <p:spPr>
          <a:xfrm>
            <a:off x="998280" y="164520"/>
            <a:ext cx="17521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69" name="TextBox 4"/>
          <p:cNvSpPr/>
          <p:nvPr/>
        </p:nvSpPr>
        <p:spPr>
          <a:xfrm>
            <a:off x="10022400" y="164520"/>
            <a:ext cx="13971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70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71" name="TextBox 6"/>
          <p:cNvSpPr/>
          <p:nvPr/>
        </p:nvSpPr>
        <p:spPr>
          <a:xfrm>
            <a:off x="2411640" y="713160"/>
            <a:ext cx="742896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Workflow QA: sprawdzenie aplikacji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72" name="Rounded Rectangle 7"/>
          <p:cNvSpPr/>
          <p:nvPr/>
        </p:nvSpPr>
        <p:spPr>
          <a:xfrm>
            <a:off x="1965960" y="1783080"/>
            <a:ext cx="8229240" cy="210276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01240" rIns="164520" tIns="118800" bIns="82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get pods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get svc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describe pod &lt;pod-name&gt;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logs &lt;pod-name&gt;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port-forward svc/qa-web 8080:80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173" name="TextBox 8"/>
          <p:cNvSpPr/>
          <p:nvPr/>
        </p:nvSpPr>
        <p:spPr>
          <a:xfrm>
            <a:off x="1463040" y="4434840"/>
            <a:ext cx="92347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400" spc="-1" strike="noStrike">
                <a:solidFill>
                  <a:srgbClr val="f6e540"/>
                </a:solidFill>
                <a:latin typeface="Arial"/>
              </a:rPr>
              <a:t>Najpierw status. Potem szczegóły. Na końcu logi i test dostępu.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 1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5" name="TextBox 2"/>
          <p:cNvSpPr/>
          <p:nvPr/>
        </p:nvSpPr>
        <p:spPr>
          <a:xfrm>
            <a:off x="935640" y="164520"/>
            <a:ext cx="187740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76" name="TextBox 3"/>
          <p:cNvSpPr/>
          <p:nvPr/>
        </p:nvSpPr>
        <p:spPr>
          <a:xfrm>
            <a:off x="9959760" y="164520"/>
            <a:ext cx="152244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  <a:spcAft>
                <a:spcPts val="3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77" name="Picture 4" descr="image.jp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78" name="Rectangle 5"/>
          <p:cNvSpPr/>
          <p:nvPr/>
        </p:nvSpPr>
        <p:spPr>
          <a:xfrm>
            <a:off x="411480" y="6556320"/>
            <a:ext cx="10743840" cy="18000"/>
          </a:xfrm>
          <a:prstGeom prst="rect">
            <a:avLst/>
          </a:prstGeom>
          <a:solidFill>
            <a:srgbClr val="4858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9" name="TextBox 6"/>
          <p:cNvSpPr/>
          <p:nvPr/>
        </p:nvSpPr>
        <p:spPr>
          <a:xfrm>
            <a:off x="3123360" y="713160"/>
            <a:ext cx="600588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Lab: flow manifestami YAML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80" name="TextBox 7"/>
          <p:cNvSpPr/>
          <p:nvPr/>
        </p:nvSpPr>
        <p:spPr>
          <a:xfrm>
            <a:off x="3852720" y="1508760"/>
            <a:ext cx="4455720" cy="10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286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Manifesty generujemy przez dry-run,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zapisujemy do plików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i używamy przez kubectl apply.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181" name="Rounded Rectangle 8"/>
          <p:cNvSpPr/>
          <p:nvPr/>
        </p:nvSpPr>
        <p:spPr>
          <a:xfrm>
            <a:off x="900000" y="2760120"/>
            <a:ext cx="5074560" cy="191988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905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137160" tIns="109800" bIns="10980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ourier New"/>
              </a:rPr>
              <a:t>kubectl create deployment qa-web \</a:t>
            </a:r>
            <a:endParaRPr b="0" lang="pl-PL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ourier New"/>
              </a:rPr>
              <a:t>  </a:t>
            </a:r>
            <a:r>
              <a:rPr b="0" lang="en-US" sz="1700" spc="-1" strike="noStrike">
                <a:solidFill>
                  <a:srgbClr val="ffffff"/>
                </a:solidFill>
                <a:latin typeface="Courier New"/>
              </a:rPr>
              <a:t>--image=nginx:1.27 \</a:t>
            </a:r>
            <a:endParaRPr b="0" lang="pl-PL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ourier New"/>
              </a:rPr>
              <a:t>  </a:t>
            </a:r>
            <a:r>
              <a:rPr b="0" lang="en-US" sz="1700" spc="-1" strike="noStrike">
                <a:solidFill>
                  <a:srgbClr val="ffffff"/>
                </a:solidFill>
                <a:latin typeface="Courier New"/>
              </a:rPr>
              <a:t>--dry-run=client -o yaml &gt; deployment.yaml</a:t>
            </a:r>
            <a:endParaRPr b="0" lang="pl-PL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endParaRPr b="0" lang="pl-PL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700" spc="-1" strike="noStrike">
                <a:solidFill>
                  <a:srgbClr val="ffffff"/>
                </a:solidFill>
                <a:latin typeface="Courier New"/>
              </a:rPr>
              <a:t>kubectl apply -f deployment.yaml</a:t>
            </a:r>
            <a:endParaRPr b="0" lang="pl-PL" sz="1700" spc="-1" strike="noStrike">
              <a:latin typeface="Arial"/>
            </a:endParaRPr>
          </a:p>
        </p:txBody>
      </p:sp>
      <p:sp>
        <p:nvSpPr>
          <p:cNvPr id="182" name="Rounded Rectangle 9"/>
          <p:cNvSpPr/>
          <p:nvPr/>
        </p:nvSpPr>
        <p:spPr>
          <a:xfrm>
            <a:off x="6400800" y="2700000"/>
            <a:ext cx="4663080" cy="1919880"/>
          </a:xfrm>
          <a:prstGeom prst="roundRect">
            <a:avLst>
              <a:gd name="adj" fmla="val 16667"/>
            </a:avLst>
          </a:prstGeom>
          <a:solidFill>
            <a:srgbClr val="324073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137160" bIns="45000" anchor="ctr">
            <a:noAutofit/>
          </a:bodyPr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Manifesty w repo: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pod.yaml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deployment.yaml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service.yaml</a:t>
            </a:r>
            <a:endParaRPr b="0" lang="pl-PL" sz="2100" spc="-1" strike="noStrike">
              <a:latin typeface="Arial"/>
            </a:endParaRPr>
          </a:p>
        </p:txBody>
      </p:sp>
      <p:sp>
        <p:nvSpPr>
          <p:cNvPr id="183" name="TextBox 10"/>
          <p:cNvSpPr/>
          <p:nvPr/>
        </p:nvSpPr>
        <p:spPr>
          <a:xfrm>
            <a:off x="1188720" y="4800600"/>
            <a:ext cx="9875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"/>
          <p:cNvSpPr/>
          <p:nvPr/>
        </p:nvSpPr>
        <p:spPr>
          <a:xfrm>
            <a:off x="0" y="6355080"/>
            <a:ext cx="12191400" cy="50256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5" name="Rectangle 2"/>
          <p:cNvSpPr/>
          <p:nvPr/>
        </p:nvSpPr>
        <p:spPr>
          <a:xfrm>
            <a:off x="411480" y="6556320"/>
            <a:ext cx="10743840" cy="18000"/>
          </a:xfrm>
          <a:prstGeom prst="rect">
            <a:avLst/>
          </a:prstGeom>
          <a:solidFill>
            <a:srgbClr val="4d5f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6" name="TextBox 3"/>
          <p:cNvSpPr/>
          <p:nvPr/>
        </p:nvSpPr>
        <p:spPr>
          <a:xfrm>
            <a:off x="998280" y="164520"/>
            <a:ext cx="17521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87" name="TextBox 4"/>
          <p:cNvSpPr/>
          <p:nvPr/>
        </p:nvSpPr>
        <p:spPr>
          <a:xfrm>
            <a:off x="10022400" y="164520"/>
            <a:ext cx="13971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88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89" name="TextBox 6"/>
          <p:cNvSpPr/>
          <p:nvPr/>
        </p:nvSpPr>
        <p:spPr>
          <a:xfrm>
            <a:off x="3078360" y="713160"/>
            <a:ext cx="6095520" cy="55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27360" rIns="27360" tIns="18360" bIns="1836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Lab: flow komendami kubectl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90" name="Rounded Rectangle 7"/>
          <p:cNvSpPr/>
          <p:nvPr/>
        </p:nvSpPr>
        <p:spPr>
          <a:xfrm>
            <a:off x="960120" y="1691640"/>
            <a:ext cx="10240920" cy="342864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905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137160" tIns="109800" bIns="10980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kubectl run qa-web --image=nginx:1.27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kubectl create deployment qa-web --image=nginx:1.27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kubectl scale deployment qa-web --replicas=3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kubectl expose deployment qa-web --port=80 --target-port=80</a:t>
            </a:r>
            <a:endParaRPr b="0" lang="pl-PL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ourier New"/>
              </a:rPr>
              <a:t>kubectl port-forward svc/qa-web 8080:80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191" name="TextBox 8"/>
          <p:cNvSpPr/>
          <p:nvPr/>
        </p:nvSpPr>
        <p:spPr>
          <a:xfrm>
            <a:off x="2505960" y="5394960"/>
            <a:ext cx="71488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Najpierw pokazujemy szybkie tworzenie obiektów z terminala.</a:t>
            </a:r>
            <a:endParaRPr b="0" lang="pl-PL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pl-PL</dc:language>
  <cp:lastModifiedBy/>
  <dcterms:modified xsi:type="dcterms:W3CDTF">2026-06-09T22:20:14Z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