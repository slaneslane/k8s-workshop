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8223F"/>
          </a:solidFill>
          <a:ln w="12700">
            <a:solidFill>
              <a:srgbClr val="1822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Kubernetes for QA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72600" y="1645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☸ Kubernetes</a:t>
            </a:r>
            <a:endParaRPr lang="en-US" sz="1300" dirty="0"/>
          </a:p>
        </p:txBody>
      </p:sp>
      <p:pic>
        <p:nvPicPr>
          <p:cNvPr id="5" name="Image 0" descr="/mnt/data/image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6446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5544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6E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Kubernetes for QA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97280" y="23774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Wprowadzenie do konteneryzacji i Docker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3154680" y="3749040"/>
            <a:ext cx="5897880" cy="777240"/>
          </a:xfrm>
          <a:prstGeom prst="roundRect">
            <a:avLst>
              <a:gd name="adj" fmla="val 8235"/>
            </a:avLst>
          </a:prstGeom>
          <a:solidFill>
            <a:srgbClr val="11182D"/>
          </a:solidFill>
          <a:ln w="15240">
            <a:solidFill>
              <a:srgbClr val="00C2A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19272" y="3858768"/>
            <a:ext cx="55686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docker run nginx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8223F"/>
          </a:solidFill>
          <a:ln w="12700">
            <a:solidFill>
              <a:srgbClr val="1822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Kubernetes for QA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72600" y="1645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☸ Kubernetes</a:t>
            </a:r>
            <a:endParaRPr lang="en-US" sz="1300" dirty="0"/>
          </a:p>
        </p:txBody>
      </p:sp>
      <p:pic>
        <p:nvPicPr>
          <p:cNvPr id="5" name="Image 0" descr="/mnt/data/image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6446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77724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E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Agenda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965960" y="1828800"/>
            <a:ext cx="83210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6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Wirtualizacja</a:t>
            </a:r>
            <a:endParaRPr lang="en-US" sz="2600" dirty="0"/>
          </a:p>
          <a:p>
            <a:r>
              <a:rPr lang="en-US" sz="26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Konteneryzacja</a:t>
            </a:r>
            <a:endParaRPr lang="en-US" sz="2600" dirty="0"/>
          </a:p>
          <a:p>
            <a:r>
              <a:rPr lang="en-US" sz="26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Docker jako przykład</a:t>
            </a:r>
            <a:endParaRPr lang="en-US" sz="2600" dirty="0"/>
          </a:p>
          <a:p>
            <a:r>
              <a:rPr lang="en-US" sz="26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Krótkie demo Docker</a:t>
            </a:r>
            <a:endParaRPr lang="en-US" sz="2600" dirty="0"/>
          </a:p>
          <a:p>
            <a:r>
              <a:rPr lang="en-US" sz="26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Dlaczego potrzebujemy Kubernetes?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8223F"/>
          </a:solidFill>
          <a:ln w="12700">
            <a:solidFill>
              <a:srgbClr val="1822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Kubernetes for QA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72600" y="1645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☸ Kubernetes</a:t>
            </a:r>
            <a:endParaRPr lang="en-US" sz="1300" dirty="0"/>
          </a:p>
        </p:txBody>
      </p:sp>
      <p:pic>
        <p:nvPicPr>
          <p:cNvPr id="5" name="Image 0" descr="/mnt/data/image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6446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77724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E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Problem przed kontenerami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143000" y="1783080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 aplikacja = 1 serwer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011680" y="2743200"/>
            <a:ext cx="804672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3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niskie wykorzystanie zasobów</a:t>
            </a:r>
            <a:endParaRPr lang="en-US" sz="2300" dirty="0"/>
          </a:p>
          <a:p>
            <a:r>
              <a:rPr lang="en-US" sz="23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trudne utrzymanie i aktualizacje</a:t>
            </a:r>
            <a:endParaRPr lang="en-US" sz="2300" dirty="0"/>
          </a:p>
          <a:p>
            <a:r>
              <a:rPr lang="en-US" sz="23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problemy z zależnościami aplikacji</a:t>
            </a:r>
            <a:endParaRPr lang="en-US" sz="2300" dirty="0"/>
          </a:p>
          <a:p>
            <a:r>
              <a:rPr lang="en-US" sz="23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różnice między środowiskami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8223F"/>
          </a:solidFill>
          <a:ln w="12700">
            <a:solidFill>
              <a:srgbClr val="1822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Kubernetes for QA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72600" y="1645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☸ Kubernetes</a:t>
            </a:r>
            <a:endParaRPr lang="en-US" sz="1300" dirty="0"/>
          </a:p>
        </p:txBody>
      </p:sp>
      <p:pic>
        <p:nvPicPr>
          <p:cNvPr id="5" name="Image 0" descr="/mnt/data/image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6446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77724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E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Wirtualizacja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434840" y="1600200"/>
            <a:ext cx="3337560" cy="502920"/>
          </a:xfrm>
          <a:prstGeom prst="roundRect">
            <a:avLst>
              <a:gd name="adj" fmla="val 14545"/>
            </a:avLst>
          </a:prstGeom>
          <a:solidFill>
            <a:srgbClr val="31406F"/>
          </a:solidFill>
          <a:ln w="15240">
            <a:solidFill>
              <a:srgbClr val="F6E5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07992" y="1673352"/>
            <a:ext cx="31912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Aplikacje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779008" y="21488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↓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434840" y="2468880"/>
            <a:ext cx="3337560" cy="502920"/>
          </a:xfrm>
          <a:prstGeom prst="roundRect">
            <a:avLst>
              <a:gd name="adj" fmla="val 14545"/>
            </a:avLst>
          </a:prstGeom>
          <a:solidFill>
            <a:srgbClr val="31406F"/>
          </a:solidFill>
          <a:ln w="15240">
            <a:solidFill>
              <a:srgbClr val="F6E5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07992" y="2542032"/>
            <a:ext cx="31912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 operacyjny VM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779008" y="3017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↓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4434840" y="3337560"/>
            <a:ext cx="3337560" cy="502920"/>
          </a:xfrm>
          <a:prstGeom prst="roundRect">
            <a:avLst>
              <a:gd name="adj" fmla="val 14545"/>
            </a:avLst>
          </a:prstGeom>
          <a:solidFill>
            <a:srgbClr val="31406F"/>
          </a:solidFill>
          <a:ln w="15240">
            <a:solidFill>
              <a:srgbClr val="F6E54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07992" y="3410712"/>
            <a:ext cx="31912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Hypervisor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779008" y="3886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↓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4434840" y="4206240"/>
            <a:ext cx="3337560" cy="502920"/>
          </a:xfrm>
          <a:prstGeom prst="roundRect">
            <a:avLst>
              <a:gd name="adj" fmla="val 14545"/>
            </a:avLst>
          </a:prstGeom>
          <a:solidFill>
            <a:srgbClr val="31406F"/>
          </a:solidFill>
          <a:ln w="15240">
            <a:solidFill>
              <a:srgbClr val="F6E54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07992" y="4279392"/>
            <a:ext cx="31912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Hardware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34440" y="507492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DDE7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plus: izolacja    minus: każdy system ma własny OS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8223F"/>
          </a:solidFill>
          <a:ln w="12700">
            <a:solidFill>
              <a:srgbClr val="1822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Kubernetes for QA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72600" y="1645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☸ Kubernetes</a:t>
            </a:r>
            <a:endParaRPr lang="en-US" sz="1300" dirty="0"/>
          </a:p>
        </p:txBody>
      </p:sp>
      <p:pic>
        <p:nvPicPr>
          <p:cNvPr id="5" name="Image 0" descr="/mnt/data/image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6446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77724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E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Konteneryzacja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434840" y="1600200"/>
            <a:ext cx="3337560" cy="502920"/>
          </a:xfrm>
          <a:prstGeom prst="roundRect">
            <a:avLst>
              <a:gd name="adj" fmla="val 14545"/>
            </a:avLst>
          </a:prstGeom>
          <a:solidFill>
            <a:srgbClr val="31406F"/>
          </a:solidFill>
          <a:ln w="15240">
            <a:solidFill>
              <a:srgbClr val="00C2A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07992" y="1673352"/>
            <a:ext cx="31912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Kontenery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779008" y="21488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↓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434840" y="2468880"/>
            <a:ext cx="3337560" cy="502920"/>
          </a:xfrm>
          <a:prstGeom prst="roundRect">
            <a:avLst>
              <a:gd name="adj" fmla="val 14545"/>
            </a:avLst>
          </a:prstGeom>
          <a:solidFill>
            <a:srgbClr val="31406F"/>
          </a:solidFill>
          <a:ln w="15240">
            <a:solidFill>
              <a:srgbClr val="00C2A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07992" y="2542032"/>
            <a:ext cx="31912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Container Runtime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779008" y="3017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↓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4434840" y="3337560"/>
            <a:ext cx="3337560" cy="502920"/>
          </a:xfrm>
          <a:prstGeom prst="roundRect">
            <a:avLst>
              <a:gd name="adj" fmla="val 14545"/>
            </a:avLst>
          </a:prstGeom>
          <a:solidFill>
            <a:srgbClr val="31406F"/>
          </a:solidFill>
          <a:ln w="15240">
            <a:solidFill>
              <a:srgbClr val="00C2A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07992" y="3410712"/>
            <a:ext cx="31912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 operacyjny hosta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779008" y="3886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↓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4434840" y="4206240"/>
            <a:ext cx="3337560" cy="502920"/>
          </a:xfrm>
          <a:prstGeom prst="roundRect">
            <a:avLst>
              <a:gd name="adj" fmla="val 14545"/>
            </a:avLst>
          </a:prstGeom>
          <a:solidFill>
            <a:srgbClr val="31406F"/>
          </a:solidFill>
          <a:ln w="15240">
            <a:solidFill>
              <a:srgbClr val="00C2A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07992" y="4279392"/>
            <a:ext cx="31912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Hardware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143000" y="5074920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DDE7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szybki start    mniejsze zużycie zasobów    przenośność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8223F"/>
          </a:solidFill>
          <a:ln w="12700">
            <a:solidFill>
              <a:srgbClr val="1822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Kubernetes for QA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72600" y="1645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☸ Kubernetes</a:t>
            </a:r>
            <a:endParaRPr lang="en-US" sz="1300" dirty="0"/>
          </a:p>
        </p:txBody>
      </p:sp>
      <p:pic>
        <p:nvPicPr>
          <p:cNvPr id="5" name="Image 0" descr="/mnt/data/image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6446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77724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E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VM vs Container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1097280" y="1828800"/>
            <a:ext cx="4617720" cy="548640"/>
          </a:xfrm>
          <a:prstGeom prst="roundRect">
            <a:avLst>
              <a:gd name="adj" fmla="val 13333"/>
            </a:avLst>
          </a:prstGeom>
          <a:solidFill>
            <a:srgbClr val="31406F"/>
          </a:solidFill>
          <a:ln w="15240">
            <a:solidFill>
              <a:srgbClr val="F6E5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70432" y="1901952"/>
            <a:ext cx="4471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325880" y="2697480"/>
            <a:ext cx="41605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1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własny OS</a:t>
            </a:r>
            <a:endParaRPr lang="en-US" sz="2100" dirty="0"/>
          </a:p>
          <a:p>
            <a:r>
              <a:rPr lang="en-US" sz="21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większe zużycie RAM/CPU</a:t>
            </a:r>
            <a:endParaRPr lang="en-US" sz="2100" dirty="0"/>
          </a:p>
          <a:p>
            <a:r>
              <a:rPr lang="en-US" sz="21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wolniejszy start</a:t>
            </a:r>
            <a:endParaRPr lang="en-US" sz="2100" dirty="0"/>
          </a:p>
          <a:p>
            <a:r>
              <a:rPr lang="en-US" sz="21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mocna izolacja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446520" y="1828800"/>
            <a:ext cx="4617720" cy="548640"/>
          </a:xfrm>
          <a:prstGeom prst="roundRect">
            <a:avLst>
              <a:gd name="adj" fmla="val 13333"/>
            </a:avLst>
          </a:prstGeom>
          <a:solidFill>
            <a:srgbClr val="31406F"/>
          </a:solidFill>
          <a:ln w="15240">
            <a:solidFill>
              <a:srgbClr val="00C2A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9672" y="1901952"/>
            <a:ext cx="4471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Container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675120" y="2697480"/>
            <a:ext cx="41605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1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współdzielony kernel</a:t>
            </a:r>
            <a:endParaRPr lang="en-US" sz="2100" dirty="0"/>
          </a:p>
          <a:p>
            <a:r>
              <a:rPr lang="en-US" sz="21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lekki</a:t>
            </a:r>
            <a:endParaRPr lang="en-US" sz="2100" dirty="0"/>
          </a:p>
          <a:p>
            <a:r>
              <a:rPr lang="en-US" sz="21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start w sekundach</a:t>
            </a:r>
            <a:endParaRPr lang="en-US" sz="2100" dirty="0"/>
          </a:p>
          <a:p>
            <a:r>
              <a:rPr lang="en-US" sz="21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łatwy do przenoszenia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8223F"/>
          </a:solidFill>
          <a:ln w="12700">
            <a:solidFill>
              <a:srgbClr val="1822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Kubernetes for QA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72600" y="1645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☸ Kubernetes</a:t>
            </a:r>
            <a:endParaRPr lang="en-US" sz="1300" dirty="0"/>
          </a:p>
        </p:txBody>
      </p:sp>
      <p:pic>
        <p:nvPicPr>
          <p:cNvPr id="5" name="Image 0" descr="/mnt/data/image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6446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77724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E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Czym jest Docker?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143000" y="1737360"/>
            <a:ext cx="9921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Docker to narzędzie do pracy z kontenerami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2057400" y="2743200"/>
            <a:ext cx="813816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budowanie obrazów</a:t>
            </a:r>
            <a:endParaRPr lang="en-US" sz="2400" dirty="0"/>
          </a:p>
          <a:p>
            <a:r>
              <a:rPr lang="en-US" sz="24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uruchamianie kontenerów</a:t>
            </a:r>
            <a:endParaRPr lang="en-US" sz="2400" dirty="0"/>
          </a:p>
          <a:p>
            <a:r>
              <a:rPr lang="en-US" sz="24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zarządzanie lokalnym środowiskiem</a:t>
            </a:r>
            <a:endParaRPr lang="en-US" sz="2400" dirty="0"/>
          </a:p>
          <a:p>
            <a:r>
              <a:rPr lang="en-US" sz="24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dystrybucja aplikacji przez registry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8223F"/>
          </a:solidFill>
          <a:ln w="12700">
            <a:solidFill>
              <a:srgbClr val="1822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Kubernetes for QA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72600" y="1645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☸ Kubernetes</a:t>
            </a:r>
            <a:endParaRPr lang="en-US" sz="1300" dirty="0"/>
          </a:p>
        </p:txBody>
      </p:sp>
      <p:pic>
        <p:nvPicPr>
          <p:cNvPr id="5" name="Image 0" descr="/mnt/data/image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6446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77724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E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Image → Container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1920240" y="246888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31406F"/>
          </a:solidFill>
          <a:ln w="15240">
            <a:solidFill>
              <a:srgbClr val="F6E5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93392" y="2542032"/>
            <a:ext cx="277977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Image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nginx:latest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57800" y="27066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A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629400" y="246888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31406F"/>
          </a:solidFill>
          <a:ln w="15240">
            <a:solidFill>
              <a:srgbClr val="00C2A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02552" y="2542032"/>
            <a:ext cx="31912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Container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running nginx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234440" y="416052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DDE7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Obraz jest szablonem. Kontener jest uruchomioną instancją obrazu.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8223F"/>
          </a:solidFill>
          <a:ln w="12700">
            <a:solidFill>
              <a:srgbClr val="1822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Kubernetes for QA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72600" y="1645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☸ Kubernetes</a:t>
            </a:r>
            <a:endParaRPr lang="en-US" sz="1300" dirty="0"/>
          </a:p>
        </p:txBody>
      </p:sp>
      <p:pic>
        <p:nvPicPr>
          <p:cNvPr id="5" name="Image 0" descr="/mnt/data/image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6446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77724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E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Demo: uruchomienie kontenera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1828800" y="2331720"/>
            <a:ext cx="8549640" cy="822960"/>
          </a:xfrm>
          <a:prstGeom prst="roundRect">
            <a:avLst>
              <a:gd name="adj" fmla="val 7778"/>
            </a:avLst>
          </a:prstGeom>
          <a:solidFill>
            <a:srgbClr val="11182D"/>
          </a:solidFill>
          <a:ln w="15240">
            <a:solidFill>
              <a:srgbClr val="00C2A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93392" y="2441448"/>
            <a:ext cx="822045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docker run -d --name web nginx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828800" y="3703320"/>
            <a:ext cx="8549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DDE7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Efekt: lokalny kontener z serwerem nginx działa w tle.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8223F"/>
          </a:solidFill>
          <a:ln w="12700">
            <a:solidFill>
              <a:srgbClr val="1822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Kubernetes for QA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72600" y="1645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☸ Kubernetes</a:t>
            </a:r>
            <a:endParaRPr lang="en-US" sz="1300" dirty="0"/>
          </a:p>
        </p:txBody>
      </p:sp>
      <p:pic>
        <p:nvPicPr>
          <p:cNvPr id="5" name="Image 0" descr="/mnt/data/image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6446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77724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E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Demo: lista kontenerów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1828800" y="2331720"/>
            <a:ext cx="8549640" cy="822960"/>
          </a:xfrm>
          <a:prstGeom prst="roundRect">
            <a:avLst>
              <a:gd name="adj" fmla="val 7778"/>
            </a:avLst>
          </a:prstGeom>
          <a:solidFill>
            <a:srgbClr val="11182D"/>
          </a:solidFill>
          <a:ln w="15240">
            <a:solidFill>
              <a:srgbClr val="00C2A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93392" y="2441448"/>
            <a:ext cx="822045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docker ps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828800" y="3703320"/>
            <a:ext cx="8549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DDE7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Pokazuje aktualnie działające kontenery.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8223F"/>
          </a:solidFill>
          <a:ln w="12700">
            <a:solidFill>
              <a:srgbClr val="1822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Kubernetes for QA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72600" y="1645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☸ Kubernetes</a:t>
            </a:r>
            <a:endParaRPr lang="en-US" sz="1300" dirty="0"/>
          </a:p>
        </p:txBody>
      </p:sp>
      <p:pic>
        <p:nvPicPr>
          <p:cNvPr id="5" name="Image 0" descr="/mnt/data/image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6446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77724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E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Demo: logi kontenera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1828800" y="2331720"/>
            <a:ext cx="8549640" cy="822960"/>
          </a:xfrm>
          <a:prstGeom prst="roundRect">
            <a:avLst>
              <a:gd name="adj" fmla="val 7778"/>
            </a:avLst>
          </a:prstGeom>
          <a:solidFill>
            <a:srgbClr val="11182D"/>
          </a:solidFill>
          <a:ln w="15240">
            <a:solidFill>
              <a:srgbClr val="00C2A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93392" y="2441448"/>
            <a:ext cx="822045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docker logs web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828800" y="3703320"/>
            <a:ext cx="8549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DDE7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 samo podejście później zobaczymy w Kubernetes: kubectl logs.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8223F"/>
          </a:solidFill>
          <a:ln w="12700">
            <a:solidFill>
              <a:srgbClr val="1822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Kubernetes for QA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72600" y="1645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☸ Kubernetes</a:t>
            </a:r>
            <a:endParaRPr lang="en-US" sz="1300" dirty="0"/>
          </a:p>
        </p:txBody>
      </p:sp>
      <p:pic>
        <p:nvPicPr>
          <p:cNvPr id="5" name="Image 0" descr="/mnt/data/image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6446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77724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E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Demo: wejście do kontenera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1828800" y="2148840"/>
            <a:ext cx="8549640" cy="1170432"/>
          </a:xfrm>
          <a:prstGeom prst="roundRect">
            <a:avLst>
              <a:gd name="adj" fmla="val 5469"/>
            </a:avLst>
          </a:prstGeom>
          <a:solidFill>
            <a:srgbClr val="11182D"/>
          </a:solidFill>
          <a:ln w="15240">
            <a:solidFill>
              <a:srgbClr val="00C2A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93392" y="2258568"/>
            <a:ext cx="822045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docker exec -it web bash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albo: docker exec -it web sh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828800" y="3794760"/>
            <a:ext cx="8549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DDE7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 samo podejście później zobaczymy w Kubernetes: kubectl exec.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8223F"/>
          </a:solidFill>
          <a:ln w="12700">
            <a:solidFill>
              <a:srgbClr val="1822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Kubernetes for QA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72600" y="1645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☸ Kubernetes</a:t>
            </a:r>
            <a:endParaRPr lang="en-US" sz="1300" dirty="0"/>
          </a:p>
        </p:txBody>
      </p:sp>
      <p:pic>
        <p:nvPicPr>
          <p:cNvPr id="5" name="Image 0" descr="/mnt/data/image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6446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77724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E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Problem skali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143000" y="1874520"/>
            <a:ext cx="9921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Docker uruchamia kontenery. Ale kto nimi zarządza?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3657600" y="2971800"/>
            <a:ext cx="47548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7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10 kontenerów?</a:t>
            </a:r>
            <a:endParaRPr lang="en-US" sz="2700" dirty="0"/>
          </a:p>
          <a:p>
            <a:r>
              <a:rPr lang="en-US" sz="27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100 kontenerów?</a:t>
            </a:r>
            <a:endParaRPr lang="en-US" sz="2700" dirty="0"/>
          </a:p>
          <a:p>
            <a:r>
              <a:rPr lang="en-US" sz="27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1000 kontenerów?</a:t>
            </a:r>
            <a:endParaRPr lang="en-US" sz="2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8223F"/>
          </a:solidFill>
          <a:ln w="12700">
            <a:solidFill>
              <a:srgbClr val="1822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Kubernetes for QA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72600" y="1645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☸ Kubernetes</a:t>
            </a:r>
            <a:endParaRPr lang="en-US" sz="1300" dirty="0"/>
          </a:p>
        </p:txBody>
      </p:sp>
      <p:pic>
        <p:nvPicPr>
          <p:cNvPr id="5" name="Image 0" descr="/mnt/data/image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6446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77724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E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Potrzeba orkiestracji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920240" y="1874520"/>
            <a:ext cx="832104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5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gdzie uruchomić kontener?</a:t>
            </a:r>
            <a:endParaRPr lang="en-US" sz="2500" dirty="0"/>
          </a:p>
          <a:p>
            <a:r>
              <a:rPr lang="en-US" sz="25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 jeśli kontener się wyłączy?</a:t>
            </a:r>
            <a:endParaRPr lang="en-US" sz="2500" dirty="0"/>
          </a:p>
          <a:p>
            <a:r>
              <a:rPr lang="en-US" sz="25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jak skalować aplikację?</a:t>
            </a:r>
            <a:endParaRPr lang="en-US" sz="2500" dirty="0"/>
          </a:p>
          <a:p>
            <a:r>
              <a:rPr lang="en-US" sz="250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jak bezpiecznie aktualizować wersję?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1188720" y="4800600"/>
            <a:ext cx="9829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6E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 jest moment, w którym pojawia się Kubernetes.</a:t>
            </a:r>
            <a:endParaRPr lang="en-US" sz="2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8223F"/>
          </a:solidFill>
          <a:ln w="12700">
            <a:solidFill>
              <a:srgbClr val="1822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Kubernetes for QA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72600" y="16459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☸ Kubernetes</a:t>
            </a:r>
            <a:endParaRPr lang="en-US" sz="1300" dirty="0"/>
          </a:p>
        </p:txBody>
      </p:sp>
      <p:pic>
        <p:nvPicPr>
          <p:cNvPr id="5" name="Image 0" descr="/mnt/data/images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6446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77724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E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Kubernetes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143000" y="1920240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Docker uruchamia kontenery.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1143000" y="2788920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6E54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Kubernetes zarządza kontenerami.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1600200" y="4069080"/>
            <a:ext cx="9006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DDE7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Następny krok: architektura Kubernetes i pierwsza aplikacja.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Inetum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for QA - Wprowadzenie do konteneryzacji i Docker</dc:title>
  <dc:subject>Kubernetes for QA - Wprowadzenie do konteneryzacji i Docker</dc:subject>
  <dc:creator>OpenAI</dc:creator>
  <cp:lastModifiedBy>OpenAI</cp:lastModifiedBy>
  <cp:revision>1</cp:revision>
  <dcterms:created xsi:type="dcterms:W3CDTF">2026-06-09T10:18:49Z</dcterms:created>
  <dcterms:modified xsi:type="dcterms:W3CDTF">2026-06-09T10:18:49Z</dcterms:modified>
</cp:coreProperties>
</file>