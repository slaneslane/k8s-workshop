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jpeg" ContentType="image/jpeg"/>
  <Override PartName="/ppt/media/image11.jpeg" ContentType="image/jpeg"/>
  <Override PartName="/ppt/media/image13.jpeg" ContentType="image/jpeg"/>
  <Override PartName="/ppt/media/image8.jpeg" ContentType="image/jpeg"/>
  <Override PartName="/ppt/media/image10.jpeg" ContentType="image/jpeg"/>
  <Override PartName="/ppt/media/image12.jpeg" ContentType="image/jpeg"/>
  <Override PartName="/ppt/media/image7.jpeg" ContentType="image/jpeg"/>
  <Override PartName="/ppt/media/image6.jpeg" ContentType="image/jpeg"/>
  <Override PartName="/ppt/media/image21.jpeg" ContentType="image/jpeg"/>
  <Override PartName="/ppt/media/image16.jpeg" ContentType="image/jpeg"/>
  <Override PartName="/ppt/media/image20.jpeg" ContentType="image/jpeg"/>
  <Override PartName="/ppt/media/image15.jpeg" ContentType="image/jpeg"/>
  <Override PartName="/ppt/media/image19.jpeg" ContentType="image/jpeg"/>
  <Override PartName="/ppt/media/image1.jpeg" ContentType="image/jpeg"/>
  <Override PartName="/ppt/media/image18.jpeg" ContentType="image/jpeg"/>
  <Override PartName="/ppt/media/image17.jpeg" ContentType="image/jpeg"/>
  <Override PartName="/ppt/media/image14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BBAA08E-53D9-4FCC-A2C0-B578528FD1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78E3C30-AB43-455B-A393-69BE8CD739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0C7A803-F04D-4B0B-913F-A6AAE92BCD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678F5F2-B4BD-40A3-91E0-851E415097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EB12FD4-2631-4102-B16C-52D162E350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3071EAD-A49E-4953-8B05-9CAB2FA6743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A962248-4510-4446-81EC-0B5B399DA5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A67C045-1889-48C6-B1C9-AFEB874FF1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BA4F50-A72B-4D42-A88C-6A9905D5B6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D67D783-4EB6-4E2F-B101-9A99418805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129D541-64C5-40DC-92E7-DE75E257E96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3DC26D-B67C-46A8-A49D-D81055C69B8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l-PL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l-PL" sz="1400" spc="-1" strike="noStrike">
                <a:latin typeface="Times New Roman"/>
              </a:rPr>
              <a:t>&lt;stopka&gt;</a:t>
            </a:r>
            <a:endParaRPr b="0" lang="pl-PL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085458C-C364-47BD-B46B-E0CC7DE927C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&lt;numer&gt;</a:t>
            </a:fld>
            <a:endParaRPr b="0" lang="pl-PL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pl-PL" sz="1400" spc="-1" strike="noStrike">
                <a:latin typeface="Times New Roman"/>
              </a:defRPr>
            </a:lvl1pPr>
          </a:lstStyle>
          <a:p>
            <a:r>
              <a:rPr b="0" lang="pl-PL" sz="1400" spc="-1" strike="noStrike">
                <a:latin typeface="Times New Roman"/>
              </a:rPr>
              <a:t>&lt;data/godzina&gt;</a:t>
            </a:r>
            <a:endParaRPr b="0" lang="pl-PL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l-PL" sz="4400" spc="-1" strike="noStrike">
                <a:latin typeface="Arial"/>
              </a:rPr>
              <a:t>Kliknij, aby edytować format tekstu </a:t>
            </a:r>
            <a:r>
              <a:rPr b="0" lang="pl-PL" sz="4400" spc="-1" strike="noStrike">
                <a:latin typeface="Arial"/>
              </a:rPr>
              <a:t>tytułu</a:t>
            </a:r>
            <a:endParaRPr b="0" lang="pl-PL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latin typeface="Arial"/>
              </a:rPr>
              <a:t>Kliknij, aby edytować format tekstu konspektu</a:t>
            </a:r>
            <a:endParaRPr b="0" lang="pl-PL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800" spc="-1" strike="noStrike">
                <a:latin typeface="Arial"/>
              </a:rPr>
              <a:t>Drugi poziom konspektu</a:t>
            </a:r>
            <a:endParaRPr b="0" lang="pl-PL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latin typeface="Arial"/>
              </a:rPr>
              <a:t>Trzeci poziom konspektu</a:t>
            </a:r>
            <a:endParaRPr b="0" lang="pl-PL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latin typeface="Arial"/>
              </a:rPr>
              <a:t>Czwarty poziom konspektu</a:t>
            </a:r>
            <a:endParaRPr b="0" lang="pl-PL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latin typeface="Arial"/>
              </a:rPr>
              <a:t>Piąty poziom konspektu</a:t>
            </a:r>
            <a:endParaRPr b="0" lang="pl-PL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latin typeface="Arial"/>
              </a:rPr>
              <a:t>Szósty poziom konspektu</a:t>
            </a:r>
            <a:endParaRPr b="0" lang="pl-PL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latin typeface="Arial"/>
              </a:rPr>
              <a:t>Siódmy poziom konspektu</a:t>
            </a:r>
            <a:endParaRPr b="0" lang="pl-PL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6355080"/>
            <a:ext cx="12191040" cy="50220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Rectangle 2"/>
          <p:cNvSpPr/>
          <p:nvPr/>
        </p:nvSpPr>
        <p:spPr>
          <a:xfrm>
            <a:off x="411480" y="6556320"/>
            <a:ext cx="10743480" cy="1764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" name="TextBox 3"/>
          <p:cNvSpPr/>
          <p:nvPr/>
        </p:nvSpPr>
        <p:spPr>
          <a:xfrm>
            <a:off x="998280" y="164520"/>
            <a:ext cx="17517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44" name="TextBox 4"/>
          <p:cNvSpPr/>
          <p:nvPr/>
        </p:nvSpPr>
        <p:spPr>
          <a:xfrm>
            <a:off x="10022400" y="164520"/>
            <a:ext cx="1396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45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46" name="TextBox 6"/>
          <p:cNvSpPr/>
          <p:nvPr/>
        </p:nvSpPr>
        <p:spPr>
          <a:xfrm>
            <a:off x="1781640" y="1417320"/>
            <a:ext cx="85975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000" spc="-1" strike="noStrike">
                <a:solidFill>
                  <a:srgbClr val="f6e540"/>
                </a:solidFill>
                <a:latin typeface="Arial"/>
                <a:ea typeface="DejaVu Sans"/>
              </a:rPr>
              <a:t>Namespaces, ConfigMaps i Secrets</a:t>
            </a:r>
            <a:endParaRPr b="0" lang="pl-PL" sz="4000" spc="-1" strike="noStrike">
              <a:latin typeface="Arial"/>
            </a:endParaRPr>
          </a:p>
        </p:txBody>
      </p:sp>
      <p:sp>
        <p:nvSpPr>
          <p:cNvPr id="47" name="TextBox 7"/>
          <p:cNvSpPr/>
          <p:nvPr/>
        </p:nvSpPr>
        <p:spPr>
          <a:xfrm>
            <a:off x="2418480" y="2240280"/>
            <a:ext cx="7323480" cy="4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rial"/>
                <a:ea typeface="DejaVu Sans"/>
              </a:rPr>
              <a:t>Konfiguracja aplikacji i dane wrażliwe w Kubernetes</a:t>
            </a:r>
            <a:endParaRPr b="0" lang="pl-PL" sz="2500" spc="-1" strike="noStrike">
              <a:latin typeface="Arial"/>
            </a:endParaRPr>
          </a:p>
        </p:txBody>
      </p:sp>
      <p:sp>
        <p:nvSpPr>
          <p:cNvPr id="48" name="Rounded Rectangle 8"/>
          <p:cNvSpPr/>
          <p:nvPr/>
        </p:nvSpPr>
        <p:spPr>
          <a:xfrm>
            <a:off x="2743200" y="3703320"/>
            <a:ext cx="6765840" cy="77652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37160" tIns="100440" bIns="7308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apply -f namespace.yaml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1"/>
          <p:cNvSpPr/>
          <p:nvPr/>
        </p:nvSpPr>
        <p:spPr>
          <a:xfrm>
            <a:off x="0" y="6355080"/>
            <a:ext cx="12191040" cy="50220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" name="Rectangle 2"/>
          <p:cNvSpPr/>
          <p:nvPr/>
        </p:nvSpPr>
        <p:spPr>
          <a:xfrm>
            <a:off x="411480" y="6556320"/>
            <a:ext cx="10743480" cy="1764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" name="TextBox 3"/>
          <p:cNvSpPr/>
          <p:nvPr/>
        </p:nvSpPr>
        <p:spPr>
          <a:xfrm>
            <a:off x="998280" y="164520"/>
            <a:ext cx="17517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52" name="TextBox 4"/>
          <p:cNvSpPr/>
          <p:nvPr/>
        </p:nvSpPr>
        <p:spPr>
          <a:xfrm>
            <a:off x="10022400" y="164520"/>
            <a:ext cx="1396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53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54" name="TextBox 6"/>
          <p:cNvSpPr/>
          <p:nvPr/>
        </p:nvSpPr>
        <p:spPr>
          <a:xfrm>
            <a:off x="4923360" y="713160"/>
            <a:ext cx="240552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Cel modułu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55" name="TextBox 7"/>
          <p:cNvSpPr/>
          <p:nvPr/>
        </p:nvSpPr>
        <p:spPr>
          <a:xfrm>
            <a:off x="1852560" y="1783080"/>
            <a:ext cx="8730000" cy="24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45720" tIns="1836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• </a:t>
            </a: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pracować we własnym namespace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• </a:t>
            </a: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oddzielić konfigurację od obrazu kontenera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• </a:t>
            </a: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utworzyć ConfigMap i Secret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• </a:t>
            </a: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przekazać dane do aplikacji jako zmienne środowiskowe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• </a:t>
            </a: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zbudować prostą stronę nginx z wartości z ConfigMap i Secret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1"/>
          <p:cNvSpPr/>
          <p:nvPr/>
        </p:nvSpPr>
        <p:spPr>
          <a:xfrm>
            <a:off x="0" y="6355080"/>
            <a:ext cx="12191040" cy="50220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" name="Rectangle 2"/>
          <p:cNvSpPr/>
          <p:nvPr/>
        </p:nvSpPr>
        <p:spPr>
          <a:xfrm>
            <a:off x="411480" y="6556320"/>
            <a:ext cx="10743480" cy="1764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" name="TextBox 3"/>
          <p:cNvSpPr/>
          <p:nvPr/>
        </p:nvSpPr>
        <p:spPr>
          <a:xfrm>
            <a:off x="998280" y="164520"/>
            <a:ext cx="17517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59" name="TextBox 4"/>
          <p:cNvSpPr/>
          <p:nvPr/>
        </p:nvSpPr>
        <p:spPr>
          <a:xfrm>
            <a:off x="10022400" y="164520"/>
            <a:ext cx="1396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60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61" name="TextBox 6"/>
          <p:cNvSpPr/>
          <p:nvPr/>
        </p:nvSpPr>
        <p:spPr>
          <a:xfrm>
            <a:off x="4901040" y="713160"/>
            <a:ext cx="244980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Namespace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62" name="TextBox 7"/>
          <p:cNvSpPr/>
          <p:nvPr/>
        </p:nvSpPr>
        <p:spPr>
          <a:xfrm>
            <a:off x="1790640" y="1600200"/>
            <a:ext cx="8579160" cy="4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rial"/>
                <a:ea typeface="DejaVu Sans"/>
              </a:rPr>
              <a:t>Namespace to logiczna przestrzeń dla obiektów Kubernetes.</a:t>
            </a:r>
            <a:endParaRPr b="0" lang="pl-PL" sz="2500" spc="-1" strike="noStrike">
              <a:latin typeface="Arial"/>
            </a:endParaRPr>
          </a:p>
        </p:txBody>
      </p:sp>
      <p:sp>
        <p:nvSpPr>
          <p:cNvPr id="63" name="Rounded Rectangle 8"/>
          <p:cNvSpPr/>
          <p:nvPr/>
        </p:nvSpPr>
        <p:spPr>
          <a:xfrm>
            <a:off x="960120" y="2468880"/>
            <a:ext cx="3108240" cy="109656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  <a:ea typeface="DejaVu Sans"/>
              </a:rPr>
              <a:t>qa-demo</a:t>
            </a:r>
            <a:endParaRPr b="0" lang="pl-PL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Pody / Service / ConfigMap</a:t>
            </a:r>
            <a:endParaRPr b="0" lang="pl-PL" sz="17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Secret</a:t>
            </a:r>
            <a:endParaRPr b="0" lang="pl-PL" sz="1700" spc="-1" strike="noStrike">
              <a:latin typeface="Arial"/>
            </a:endParaRPr>
          </a:p>
        </p:txBody>
      </p:sp>
      <p:sp>
        <p:nvSpPr>
          <p:cNvPr id="64" name="Rounded Rectangle 9"/>
          <p:cNvSpPr/>
          <p:nvPr/>
        </p:nvSpPr>
        <p:spPr>
          <a:xfrm>
            <a:off x="4526280" y="2468880"/>
            <a:ext cx="3108240" cy="109656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  <a:ea typeface="DejaVu Sans"/>
              </a:rPr>
              <a:t>dev</a:t>
            </a:r>
            <a:endParaRPr b="0" lang="pl-PL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inne obiekty</a:t>
            </a:r>
            <a:endParaRPr b="0" lang="pl-PL" sz="17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inny kontekst</a:t>
            </a:r>
            <a:endParaRPr b="0" lang="pl-PL" sz="1700" spc="-1" strike="noStrike">
              <a:latin typeface="Arial"/>
            </a:endParaRPr>
          </a:p>
        </p:txBody>
      </p:sp>
      <p:sp>
        <p:nvSpPr>
          <p:cNvPr id="65" name="Rounded Rectangle 10"/>
          <p:cNvSpPr/>
          <p:nvPr/>
        </p:nvSpPr>
        <p:spPr>
          <a:xfrm>
            <a:off x="8092440" y="2468880"/>
            <a:ext cx="3108240" cy="109656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  <a:ea typeface="DejaVu Sans"/>
              </a:rPr>
              <a:t>prod</a:t>
            </a:r>
            <a:endParaRPr b="0" lang="pl-PL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inna konfiguracja</a:t>
            </a:r>
            <a:endParaRPr b="0" lang="pl-PL" sz="17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inne dostępy</a:t>
            </a:r>
            <a:endParaRPr b="0" lang="pl-PL" sz="1700" spc="-1" strike="noStrike">
              <a:latin typeface="Arial"/>
            </a:endParaRPr>
          </a:p>
        </p:txBody>
      </p:sp>
      <p:sp>
        <p:nvSpPr>
          <p:cNvPr id="66" name="TextBox 11"/>
          <p:cNvSpPr/>
          <p:nvPr/>
        </p:nvSpPr>
        <p:spPr>
          <a:xfrm>
            <a:off x="892440" y="4617720"/>
            <a:ext cx="1037628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Dla QA namespace ułatwia porządkowanie labów i szybkie filtrowanie obiektów.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6355080"/>
            <a:ext cx="12191040" cy="50220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8" name="Rectangle 2"/>
          <p:cNvSpPr/>
          <p:nvPr/>
        </p:nvSpPr>
        <p:spPr>
          <a:xfrm>
            <a:off x="411480" y="6556320"/>
            <a:ext cx="10743480" cy="1764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9" name="TextBox 3"/>
          <p:cNvSpPr/>
          <p:nvPr/>
        </p:nvSpPr>
        <p:spPr>
          <a:xfrm>
            <a:off x="998280" y="164520"/>
            <a:ext cx="17517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10022400" y="164520"/>
            <a:ext cx="1396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71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72" name="TextBox 6"/>
          <p:cNvSpPr/>
          <p:nvPr/>
        </p:nvSpPr>
        <p:spPr>
          <a:xfrm>
            <a:off x="3618720" y="713160"/>
            <a:ext cx="501444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Namespace — komendy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73" name="Rounded Rectangle 7"/>
          <p:cNvSpPr/>
          <p:nvPr/>
        </p:nvSpPr>
        <p:spPr>
          <a:xfrm>
            <a:off x="1051560" y="1600200"/>
            <a:ext cx="10057680" cy="137088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37160" tIns="100440" bIns="7308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create namespace qa-demo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get namespaces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get pods -n qa-demo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74" name="Rounded Rectangle 8"/>
          <p:cNvSpPr/>
          <p:nvPr/>
        </p:nvSpPr>
        <p:spPr>
          <a:xfrm>
            <a:off x="1051560" y="3429000"/>
            <a:ext cx="10057680" cy="179064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37160" tIns="100440" bIns="73080" anchor="ctr">
            <a:no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200" spc="-1" strike="noStrike">
                <a:solidFill>
                  <a:srgbClr val="f6e540"/>
                </a:solidFill>
                <a:latin typeface="Courier New"/>
                <a:ea typeface="DejaVu Sans"/>
              </a:rPr>
              <a:t>CLI → YAML</a:t>
            </a:r>
            <a:endParaRPr b="0" lang="pl-PL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create namespace qa-demo \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--dry-run=client -o yaml &gt; namespace.yaml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apply -f namespace.yaml</a:t>
            </a:r>
            <a:endParaRPr b="0" lang="pl-PL" sz="2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6355080"/>
            <a:ext cx="12191040" cy="50220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6" name="Rectangle 2"/>
          <p:cNvSpPr/>
          <p:nvPr/>
        </p:nvSpPr>
        <p:spPr>
          <a:xfrm>
            <a:off x="411480" y="6556320"/>
            <a:ext cx="10743480" cy="1764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TextBox 3"/>
          <p:cNvSpPr/>
          <p:nvPr/>
        </p:nvSpPr>
        <p:spPr>
          <a:xfrm>
            <a:off x="998280" y="164520"/>
            <a:ext cx="17517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10022400" y="164520"/>
            <a:ext cx="1396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79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80" name="TextBox 6"/>
          <p:cNvSpPr/>
          <p:nvPr/>
        </p:nvSpPr>
        <p:spPr>
          <a:xfrm>
            <a:off x="2923920" y="713160"/>
            <a:ext cx="640440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Praca w wybranym namespace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81" name="Rounded Rectangle 7"/>
          <p:cNvSpPr/>
          <p:nvPr/>
        </p:nvSpPr>
        <p:spPr>
          <a:xfrm>
            <a:off x="1005840" y="1600200"/>
            <a:ext cx="10240560" cy="114228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37160" tIns="100440" bIns="7308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get pods -n qa-demo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describe pod &lt;pod-name&gt; -n qa-demo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82" name="TextBox 8"/>
          <p:cNvSpPr/>
          <p:nvPr/>
        </p:nvSpPr>
        <p:spPr>
          <a:xfrm>
            <a:off x="1501200" y="3154680"/>
            <a:ext cx="924984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Można też ustawić namespace jako domyślny w aktualnym kontekście.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83" name="Rounded Rectangle 9"/>
          <p:cNvSpPr/>
          <p:nvPr/>
        </p:nvSpPr>
        <p:spPr>
          <a:xfrm>
            <a:off x="1005840" y="3886200"/>
            <a:ext cx="10240560" cy="86796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37160" tIns="100440" bIns="7308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config set-context --current --namespace=qa-demo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6355080"/>
            <a:ext cx="12191040" cy="50220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5" name="Rectangle 2"/>
          <p:cNvSpPr/>
          <p:nvPr/>
        </p:nvSpPr>
        <p:spPr>
          <a:xfrm>
            <a:off x="411480" y="6556320"/>
            <a:ext cx="10743480" cy="1764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TextBox 3"/>
          <p:cNvSpPr/>
          <p:nvPr/>
        </p:nvSpPr>
        <p:spPr>
          <a:xfrm>
            <a:off x="998280" y="164520"/>
            <a:ext cx="17517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10022400" y="164520"/>
            <a:ext cx="1396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88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89" name="TextBox 6"/>
          <p:cNvSpPr/>
          <p:nvPr/>
        </p:nvSpPr>
        <p:spPr>
          <a:xfrm>
            <a:off x="4984200" y="713160"/>
            <a:ext cx="228348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ConfigMap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90" name="TextBox 7"/>
          <p:cNvSpPr/>
          <p:nvPr/>
        </p:nvSpPr>
        <p:spPr>
          <a:xfrm>
            <a:off x="2029320" y="1600200"/>
            <a:ext cx="8102160" cy="4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rial"/>
                <a:ea typeface="DejaVu Sans"/>
              </a:rPr>
              <a:t>ConfigMap przechowuje konfigurację, która nie jest tajna.</a:t>
            </a:r>
            <a:endParaRPr b="0" lang="pl-PL" sz="2500" spc="-1" strike="noStrike">
              <a:latin typeface="Arial"/>
            </a:endParaRPr>
          </a:p>
        </p:txBody>
      </p:sp>
      <p:sp>
        <p:nvSpPr>
          <p:cNvPr id="91" name="Rounded Rectangle 8"/>
          <p:cNvSpPr/>
          <p:nvPr/>
        </p:nvSpPr>
        <p:spPr>
          <a:xfrm>
            <a:off x="1097280" y="2514600"/>
            <a:ext cx="4296960" cy="126504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  <a:ea typeface="DejaVu Sans"/>
              </a:rPr>
              <a:t>ConfigMap</a:t>
            </a:r>
            <a:endParaRPr b="0" lang="pl-PL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PAGE_TITLE</a:t>
            </a:r>
            <a:endParaRPr b="0" lang="pl-PL" sz="17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PAGE_HEADER</a:t>
            </a:r>
            <a:endParaRPr b="0" lang="pl-PL" sz="17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APP_ENV</a:t>
            </a:r>
            <a:endParaRPr b="0" lang="pl-PL" sz="1700" spc="-1" strike="noStrike">
              <a:latin typeface="Arial"/>
            </a:endParaRPr>
          </a:p>
        </p:txBody>
      </p:sp>
      <p:sp>
        <p:nvSpPr>
          <p:cNvPr id="92" name="TextBox 9"/>
          <p:cNvSpPr/>
          <p:nvPr/>
        </p:nvSpPr>
        <p:spPr>
          <a:xfrm>
            <a:off x="5816520" y="2880360"/>
            <a:ext cx="43632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000" spc="-1" strike="noStrike">
                <a:solidFill>
                  <a:srgbClr val="f6e540"/>
                </a:solidFill>
                <a:latin typeface="Arial"/>
                <a:ea typeface="DejaVu Sans"/>
              </a:rPr>
              <a:t>→</a:t>
            </a:r>
            <a:endParaRPr b="0" lang="pl-PL" sz="3000" spc="-1" strike="noStrike">
              <a:latin typeface="Arial"/>
            </a:endParaRPr>
          </a:p>
        </p:txBody>
      </p:sp>
      <p:sp>
        <p:nvSpPr>
          <p:cNvPr id="93" name="Rounded Rectangle 10"/>
          <p:cNvSpPr/>
          <p:nvPr/>
        </p:nvSpPr>
        <p:spPr>
          <a:xfrm>
            <a:off x="6583680" y="2514600"/>
            <a:ext cx="4296960" cy="123372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  <a:ea typeface="DejaVu Sans"/>
              </a:rPr>
              <a:t>Aplikacja</a:t>
            </a:r>
            <a:endParaRPr b="0" lang="pl-PL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zmienne środowiskowe</a:t>
            </a:r>
            <a:endParaRPr b="0" lang="pl-PL" sz="17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pliki konfiguracyjne</a:t>
            </a:r>
            <a:endParaRPr b="0" lang="pl-PL" sz="1700" spc="-1" strike="noStrike">
              <a:latin typeface="Arial"/>
            </a:endParaRPr>
          </a:p>
        </p:txBody>
      </p:sp>
      <p:sp>
        <p:nvSpPr>
          <p:cNvPr id="94" name="TextBox 11"/>
          <p:cNvSpPr/>
          <p:nvPr/>
        </p:nvSpPr>
        <p:spPr>
          <a:xfrm>
            <a:off x="1226160" y="4572000"/>
            <a:ext cx="979992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300" spc="-1" strike="noStrike">
                <a:solidFill>
                  <a:srgbClr val="f6e540"/>
                </a:solidFill>
                <a:latin typeface="Arial"/>
                <a:ea typeface="DejaVu Sans"/>
              </a:rPr>
              <a:t>Zmiana ConfigMap nie wymaga budowania nowego obrazu kontenera.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6355080"/>
            <a:ext cx="12191040" cy="50220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6" name="Rectangle 2"/>
          <p:cNvSpPr/>
          <p:nvPr/>
        </p:nvSpPr>
        <p:spPr>
          <a:xfrm>
            <a:off x="411480" y="6556320"/>
            <a:ext cx="10743480" cy="1764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7" name="TextBox 3"/>
          <p:cNvSpPr/>
          <p:nvPr/>
        </p:nvSpPr>
        <p:spPr>
          <a:xfrm>
            <a:off x="998280" y="164520"/>
            <a:ext cx="17517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98" name="TextBox 4"/>
          <p:cNvSpPr/>
          <p:nvPr/>
        </p:nvSpPr>
        <p:spPr>
          <a:xfrm>
            <a:off x="10022400" y="164520"/>
            <a:ext cx="1396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99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100" name="TextBox 6"/>
          <p:cNvSpPr/>
          <p:nvPr/>
        </p:nvSpPr>
        <p:spPr>
          <a:xfrm>
            <a:off x="3701880" y="713160"/>
            <a:ext cx="484848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ConfigMap — komendy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01" name="Rounded Rectangle 7"/>
          <p:cNvSpPr/>
          <p:nvPr/>
        </p:nvSpPr>
        <p:spPr>
          <a:xfrm>
            <a:off x="777240" y="1508760"/>
            <a:ext cx="10972080" cy="137088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37160" tIns="100440" bIns="7308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create configmap page-config -n qa-demo \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--from-literal=PAGE_TITLE='Kubernetes QA Lab' \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--from-literal=PAGE_HEADER='Hello from ConfigMap'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02" name="Rounded Rectangle 8"/>
          <p:cNvSpPr/>
          <p:nvPr/>
        </p:nvSpPr>
        <p:spPr>
          <a:xfrm>
            <a:off x="777240" y="3246120"/>
            <a:ext cx="10972080" cy="141660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37160" tIns="100440" bIns="7308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get configmap -n qa-demo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describe configmap page-config -n qa-demo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get configmap page-config -n qa-demo -o yaml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103" name="TextBox 9"/>
          <p:cNvSpPr/>
          <p:nvPr/>
        </p:nvSpPr>
        <p:spPr>
          <a:xfrm>
            <a:off x="1188720" y="5074920"/>
            <a:ext cx="98748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0" y="6355080"/>
            <a:ext cx="12191040" cy="50220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5" name="Rectangle 2"/>
          <p:cNvSpPr/>
          <p:nvPr/>
        </p:nvSpPr>
        <p:spPr>
          <a:xfrm>
            <a:off x="411480" y="6556320"/>
            <a:ext cx="10743480" cy="1764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6" name="TextBox 3"/>
          <p:cNvSpPr/>
          <p:nvPr/>
        </p:nvSpPr>
        <p:spPr>
          <a:xfrm>
            <a:off x="998280" y="164520"/>
            <a:ext cx="17517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07" name="TextBox 4"/>
          <p:cNvSpPr/>
          <p:nvPr/>
        </p:nvSpPr>
        <p:spPr>
          <a:xfrm>
            <a:off x="10022400" y="164520"/>
            <a:ext cx="1396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08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109" name="TextBox 6"/>
          <p:cNvSpPr/>
          <p:nvPr/>
        </p:nvSpPr>
        <p:spPr>
          <a:xfrm>
            <a:off x="5439960" y="713160"/>
            <a:ext cx="137232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Secret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10" name="TextBox 7"/>
          <p:cNvSpPr/>
          <p:nvPr/>
        </p:nvSpPr>
        <p:spPr>
          <a:xfrm>
            <a:off x="1703160" y="1600200"/>
            <a:ext cx="8754480" cy="4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rial"/>
                <a:ea typeface="DejaVu Sans"/>
              </a:rPr>
              <a:t>Secret przechowuje dane wrażliwe, np. hasła, tokeny i klucze.</a:t>
            </a:r>
            <a:endParaRPr b="0" lang="pl-PL" sz="2500" spc="-1" strike="noStrike">
              <a:latin typeface="Arial"/>
            </a:endParaRPr>
          </a:p>
        </p:txBody>
      </p:sp>
      <p:sp>
        <p:nvSpPr>
          <p:cNvPr id="111" name="Rounded Rectangle 8"/>
          <p:cNvSpPr/>
          <p:nvPr/>
        </p:nvSpPr>
        <p:spPr>
          <a:xfrm>
            <a:off x="1097280" y="2514600"/>
            <a:ext cx="4296960" cy="144504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  <a:ea typeface="DejaVu Sans"/>
              </a:rPr>
              <a:t>Secret</a:t>
            </a:r>
            <a:endParaRPr b="0" lang="pl-PL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DB_PASSWORD</a:t>
            </a:r>
            <a:endParaRPr b="0" lang="pl-PL" sz="17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API_TOKEN</a:t>
            </a:r>
            <a:endParaRPr b="0" lang="pl-PL" sz="17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SECRET_MESSAGE</a:t>
            </a:r>
            <a:endParaRPr b="0" lang="pl-PL" sz="1700" spc="-1" strike="noStrike">
              <a:latin typeface="Arial"/>
            </a:endParaRPr>
          </a:p>
        </p:txBody>
      </p:sp>
      <p:sp>
        <p:nvSpPr>
          <p:cNvPr id="112" name="TextBox 9"/>
          <p:cNvSpPr/>
          <p:nvPr/>
        </p:nvSpPr>
        <p:spPr>
          <a:xfrm>
            <a:off x="5816520" y="2880360"/>
            <a:ext cx="43632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000" spc="-1" strike="noStrike">
                <a:solidFill>
                  <a:srgbClr val="f6e540"/>
                </a:solidFill>
                <a:latin typeface="Arial"/>
                <a:ea typeface="DejaVu Sans"/>
              </a:rPr>
              <a:t>→</a:t>
            </a:r>
            <a:endParaRPr b="0" lang="pl-PL" sz="3000" spc="-1" strike="noStrike">
              <a:latin typeface="Arial"/>
            </a:endParaRPr>
          </a:p>
        </p:txBody>
      </p:sp>
      <p:sp>
        <p:nvSpPr>
          <p:cNvPr id="113" name="Rounded Rectangle 10"/>
          <p:cNvSpPr/>
          <p:nvPr/>
        </p:nvSpPr>
        <p:spPr>
          <a:xfrm>
            <a:off x="6583680" y="2514600"/>
            <a:ext cx="4296960" cy="144504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  <a:ea typeface="DejaVu Sans"/>
              </a:rPr>
              <a:t>Aplikacja</a:t>
            </a:r>
            <a:endParaRPr b="0" lang="pl-PL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env</a:t>
            </a:r>
            <a:endParaRPr b="0" lang="pl-PL" sz="17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volume</a:t>
            </a:r>
            <a:endParaRPr b="0" lang="pl-PL" sz="17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plik</a:t>
            </a:r>
            <a:endParaRPr b="0" lang="pl-PL" sz="1700" spc="-1" strike="noStrike">
              <a:latin typeface="Arial"/>
            </a:endParaRPr>
          </a:p>
        </p:txBody>
      </p:sp>
      <p:sp>
        <p:nvSpPr>
          <p:cNvPr id="114" name="TextBox 11"/>
          <p:cNvSpPr/>
          <p:nvPr/>
        </p:nvSpPr>
        <p:spPr>
          <a:xfrm>
            <a:off x="354600" y="4572000"/>
            <a:ext cx="1145556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300" spc="-1" strike="noStrike">
                <a:solidFill>
                  <a:srgbClr val="f6e540"/>
                </a:solidFill>
                <a:latin typeface="Arial"/>
                <a:ea typeface="DejaVu Sans"/>
              </a:rPr>
              <a:t>Domyślnie Secret w YAML jest kodowany Base64 — TO NIE JEST SZYFROWANIE!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0" y="6355080"/>
            <a:ext cx="12191040" cy="50220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6" name="Rectangle 2"/>
          <p:cNvSpPr/>
          <p:nvPr/>
        </p:nvSpPr>
        <p:spPr>
          <a:xfrm>
            <a:off x="411480" y="6556320"/>
            <a:ext cx="10743480" cy="1764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7" name="TextBox 3"/>
          <p:cNvSpPr/>
          <p:nvPr/>
        </p:nvSpPr>
        <p:spPr>
          <a:xfrm>
            <a:off x="998280" y="164520"/>
            <a:ext cx="17517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18" name="TextBox 4"/>
          <p:cNvSpPr/>
          <p:nvPr/>
        </p:nvSpPr>
        <p:spPr>
          <a:xfrm>
            <a:off x="10022400" y="164520"/>
            <a:ext cx="1396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19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120" name="TextBox 6"/>
          <p:cNvSpPr/>
          <p:nvPr/>
        </p:nvSpPr>
        <p:spPr>
          <a:xfrm>
            <a:off x="2814120" y="713160"/>
            <a:ext cx="662400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Przekazanie danych do aplikacji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21" name="Rounded Rectangle 7"/>
          <p:cNvSpPr/>
          <p:nvPr/>
        </p:nvSpPr>
        <p:spPr>
          <a:xfrm>
            <a:off x="822960" y="1417320"/>
            <a:ext cx="5348520" cy="338256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37160" tIns="100440" bIns="73080" anchor="ctr">
            <a:no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200" spc="-1" strike="noStrike">
                <a:solidFill>
                  <a:srgbClr val="f6e540"/>
                </a:solidFill>
                <a:latin typeface="Courier New"/>
                <a:ea typeface="DejaVu Sans"/>
              </a:rPr>
              <a:t>ConfigMap → env</a:t>
            </a:r>
            <a:endParaRPr b="0" lang="pl-PL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env: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- name: PAGE_HEADER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valueFrom: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configMapKeyRef: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  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name: page-config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  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key: PAGE_HEADER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22" name="Rounded Rectangle 8"/>
          <p:cNvSpPr/>
          <p:nvPr/>
        </p:nvSpPr>
        <p:spPr>
          <a:xfrm>
            <a:off x="6400800" y="1417320"/>
            <a:ext cx="4982760" cy="338256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37160" tIns="100440" bIns="73080" anchor="ctr">
            <a:no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200" spc="-1" strike="noStrike">
                <a:solidFill>
                  <a:srgbClr val="f6e540"/>
                </a:solidFill>
                <a:latin typeface="Courier New"/>
                <a:ea typeface="DejaVu Sans"/>
              </a:rPr>
              <a:t>Secret → env</a:t>
            </a:r>
            <a:endParaRPr b="0" lang="pl-PL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env: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- name: SECRET_MESSAGE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valueFrom: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secretKeyRef: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  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name: page-secret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  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key: SECRET_MESSAGE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23" name="TextBox 9"/>
          <p:cNvSpPr/>
          <p:nvPr/>
        </p:nvSpPr>
        <p:spPr>
          <a:xfrm>
            <a:off x="2616840" y="5074920"/>
            <a:ext cx="692712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Aplikacja widzi wartości jako zmienne środowiskowe.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6355080"/>
            <a:ext cx="12191040" cy="50220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5" name="Rectangle 2"/>
          <p:cNvSpPr/>
          <p:nvPr/>
        </p:nvSpPr>
        <p:spPr>
          <a:xfrm>
            <a:off x="411480" y="6556320"/>
            <a:ext cx="10743480" cy="1764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6" name="TextBox 3"/>
          <p:cNvSpPr/>
          <p:nvPr/>
        </p:nvSpPr>
        <p:spPr>
          <a:xfrm>
            <a:off x="998280" y="164520"/>
            <a:ext cx="17517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27" name="TextBox 4"/>
          <p:cNvSpPr/>
          <p:nvPr/>
        </p:nvSpPr>
        <p:spPr>
          <a:xfrm>
            <a:off x="10022400" y="164520"/>
            <a:ext cx="1396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28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129" name="TextBox 6"/>
          <p:cNvSpPr/>
          <p:nvPr/>
        </p:nvSpPr>
        <p:spPr>
          <a:xfrm>
            <a:off x="1761120" y="713160"/>
            <a:ext cx="873000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Lab: nginx wyświetla konfigurację i Secret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30" name="TextBox 7"/>
          <p:cNvSpPr/>
          <p:nvPr/>
        </p:nvSpPr>
        <p:spPr>
          <a:xfrm>
            <a:off x="1639080" y="1508760"/>
            <a:ext cx="88822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DejaVu Sans"/>
              </a:rPr>
              <a:t>Efekt końcowy: strona nginx pokazuje tekst z ConfigMap i Secret.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31" name="Rounded Rectangle 8"/>
          <p:cNvSpPr/>
          <p:nvPr/>
        </p:nvSpPr>
        <p:spPr>
          <a:xfrm>
            <a:off x="914400" y="2160000"/>
            <a:ext cx="2010960" cy="108000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  <a:ea typeface="DejaVu Sans"/>
              </a:rPr>
              <a:t>ConfigMap</a:t>
            </a:r>
            <a:endParaRPr b="0" lang="pl-PL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tytuł</a:t>
            </a:r>
            <a:endParaRPr b="0" lang="pl-PL" sz="17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nagłówek</a:t>
            </a:r>
            <a:endParaRPr b="0" lang="pl-PL" sz="1700" spc="-1" strike="noStrike">
              <a:latin typeface="Arial"/>
            </a:endParaRPr>
          </a:p>
        </p:txBody>
      </p:sp>
      <p:sp>
        <p:nvSpPr>
          <p:cNvPr id="132" name="Rounded Rectangle 9"/>
          <p:cNvSpPr/>
          <p:nvPr/>
        </p:nvSpPr>
        <p:spPr>
          <a:xfrm>
            <a:off x="914400" y="3657600"/>
            <a:ext cx="2010960" cy="73080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  <a:ea typeface="DejaVu Sans"/>
              </a:rPr>
              <a:t>Secret</a:t>
            </a:r>
            <a:endParaRPr b="0" lang="pl-PL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tekst strony</a:t>
            </a:r>
            <a:endParaRPr b="0" lang="pl-PL" sz="1700" spc="-1" strike="noStrike">
              <a:latin typeface="Arial"/>
            </a:endParaRPr>
          </a:p>
        </p:txBody>
      </p:sp>
      <p:sp>
        <p:nvSpPr>
          <p:cNvPr id="133" name="TextBox 10"/>
          <p:cNvSpPr/>
          <p:nvPr/>
        </p:nvSpPr>
        <p:spPr>
          <a:xfrm>
            <a:off x="3301920" y="3017520"/>
            <a:ext cx="43632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000" spc="-1" strike="noStrike">
                <a:solidFill>
                  <a:srgbClr val="f6e540"/>
                </a:solidFill>
                <a:latin typeface="Arial"/>
                <a:ea typeface="DejaVu Sans"/>
              </a:rPr>
              <a:t>→</a:t>
            </a:r>
            <a:endParaRPr b="0" lang="pl-PL" sz="3000" spc="-1" strike="noStrike">
              <a:latin typeface="Arial"/>
            </a:endParaRPr>
          </a:p>
        </p:txBody>
      </p:sp>
      <p:sp>
        <p:nvSpPr>
          <p:cNvPr id="134" name="Rounded Rectangle 11"/>
          <p:cNvSpPr/>
          <p:nvPr/>
        </p:nvSpPr>
        <p:spPr>
          <a:xfrm>
            <a:off x="3886200" y="2651760"/>
            <a:ext cx="2376720" cy="109656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  <a:ea typeface="DejaVu Sans"/>
              </a:rPr>
              <a:t>initContainer</a:t>
            </a:r>
            <a:endParaRPr b="0" lang="pl-PL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generuje</a:t>
            </a:r>
            <a:endParaRPr b="0" lang="pl-PL" sz="17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index.html</a:t>
            </a:r>
            <a:endParaRPr b="0" lang="pl-PL" sz="1700" spc="-1" strike="noStrike">
              <a:latin typeface="Arial"/>
            </a:endParaRPr>
          </a:p>
        </p:txBody>
      </p:sp>
      <p:sp>
        <p:nvSpPr>
          <p:cNvPr id="135" name="TextBox 12"/>
          <p:cNvSpPr/>
          <p:nvPr/>
        </p:nvSpPr>
        <p:spPr>
          <a:xfrm>
            <a:off x="6548040" y="3017520"/>
            <a:ext cx="43632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000" spc="-1" strike="noStrike">
                <a:solidFill>
                  <a:srgbClr val="f6e540"/>
                </a:solidFill>
                <a:latin typeface="Arial"/>
                <a:ea typeface="DejaVu Sans"/>
              </a:rPr>
              <a:t>→</a:t>
            </a:r>
            <a:endParaRPr b="0" lang="pl-PL" sz="3000" spc="-1" strike="noStrike">
              <a:latin typeface="Arial"/>
            </a:endParaRPr>
          </a:p>
        </p:txBody>
      </p:sp>
      <p:sp>
        <p:nvSpPr>
          <p:cNvPr id="136" name="Rounded Rectangle 13"/>
          <p:cNvSpPr/>
          <p:nvPr/>
        </p:nvSpPr>
        <p:spPr>
          <a:xfrm>
            <a:off x="7132320" y="2651760"/>
            <a:ext cx="1919520" cy="109656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  <a:ea typeface="DejaVu Sans"/>
              </a:rPr>
              <a:t>nginx</a:t>
            </a:r>
            <a:endParaRPr b="0" lang="pl-PL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serwuje</a:t>
            </a:r>
            <a:endParaRPr b="0" lang="pl-PL" sz="17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stronę</a:t>
            </a:r>
            <a:endParaRPr b="0" lang="pl-PL" sz="1700" spc="-1" strike="noStrike">
              <a:latin typeface="Arial"/>
            </a:endParaRPr>
          </a:p>
        </p:txBody>
      </p:sp>
      <p:sp>
        <p:nvSpPr>
          <p:cNvPr id="137" name="TextBox 14"/>
          <p:cNvSpPr/>
          <p:nvPr/>
        </p:nvSpPr>
        <p:spPr>
          <a:xfrm>
            <a:off x="9336960" y="3017520"/>
            <a:ext cx="43632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000" spc="-1" strike="noStrike">
                <a:solidFill>
                  <a:srgbClr val="f6e540"/>
                </a:solidFill>
                <a:latin typeface="Arial"/>
                <a:ea typeface="DejaVu Sans"/>
              </a:rPr>
              <a:t>→</a:t>
            </a:r>
            <a:endParaRPr b="0" lang="pl-PL" sz="3000" spc="-1" strike="noStrike">
              <a:latin typeface="Arial"/>
            </a:endParaRPr>
          </a:p>
        </p:txBody>
      </p:sp>
      <p:sp>
        <p:nvSpPr>
          <p:cNvPr id="138" name="Rounded Rectangle 15"/>
          <p:cNvSpPr/>
          <p:nvPr/>
        </p:nvSpPr>
        <p:spPr>
          <a:xfrm>
            <a:off x="9921240" y="2651760"/>
            <a:ext cx="1508040" cy="109656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  <a:ea typeface="DejaVu Sans"/>
              </a:rPr>
              <a:t>Service</a:t>
            </a:r>
            <a:endParaRPr b="0" lang="pl-PL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port</a:t>
            </a:r>
            <a:endParaRPr b="0" lang="pl-PL" sz="17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80</a:t>
            </a:r>
            <a:endParaRPr b="0" lang="pl-PL" sz="1700" spc="-1" strike="noStrike">
              <a:latin typeface="Arial"/>
            </a:endParaRPr>
          </a:p>
        </p:txBody>
      </p:sp>
      <p:sp>
        <p:nvSpPr>
          <p:cNvPr id="139" name="TextBox 16"/>
          <p:cNvSpPr/>
          <p:nvPr/>
        </p:nvSpPr>
        <p:spPr>
          <a:xfrm>
            <a:off x="138960" y="4983480"/>
            <a:ext cx="1197504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  <a:ea typeface="DejaVu Sans"/>
              </a:rPr>
              <a:t>W realnej aplikacji nie wyświetlamy sekretów użytkownikowi — tutaj robimy to wyłącznie demonstracyjnie.</a:t>
            </a:r>
            <a:endParaRPr b="0" lang="pl-PL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3"/>
          <p:cNvSpPr/>
          <p:nvPr/>
        </p:nvSpPr>
        <p:spPr>
          <a:xfrm>
            <a:off x="0" y="6355080"/>
            <a:ext cx="12191040" cy="50220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1" name="Rectangle 5"/>
          <p:cNvSpPr/>
          <p:nvPr/>
        </p:nvSpPr>
        <p:spPr>
          <a:xfrm>
            <a:off x="411480" y="6556320"/>
            <a:ext cx="10743480" cy="1764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2" name="TextBox 15"/>
          <p:cNvSpPr/>
          <p:nvPr/>
        </p:nvSpPr>
        <p:spPr>
          <a:xfrm>
            <a:off x="998280" y="164520"/>
            <a:ext cx="17517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43" name="TextBox 17"/>
          <p:cNvSpPr/>
          <p:nvPr/>
        </p:nvSpPr>
        <p:spPr>
          <a:xfrm>
            <a:off x="10022400" y="164520"/>
            <a:ext cx="1396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44" name="Picture 2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145" name="TextBox 18"/>
          <p:cNvSpPr/>
          <p:nvPr/>
        </p:nvSpPr>
        <p:spPr>
          <a:xfrm>
            <a:off x="4157640" y="713160"/>
            <a:ext cx="393696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Secret — komendy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46" name="Rounded Rectangle 3"/>
          <p:cNvSpPr/>
          <p:nvPr/>
        </p:nvSpPr>
        <p:spPr>
          <a:xfrm>
            <a:off x="822960" y="1508760"/>
            <a:ext cx="10880640" cy="123372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37160" tIns="100440" bIns="7308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create secret generic page-secret -n qa-demo \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--from-literal=SECRET_MESSAGE='Tekst z Kubernetes Secret'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147" name="Rounded Rectangle 4"/>
          <p:cNvSpPr/>
          <p:nvPr/>
        </p:nvSpPr>
        <p:spPr>
          <a:xfrm>
            <a:off x="822960" y="3154680"/>
            <a:ext cx="10880640" cy="170496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37160" tIns="100440" bIns="7308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</a:pPr>
            <a:endParaRPr b="0" lang="pl-PL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get secrets -n qa-demo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describe secret page-secret -n qa-demo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get secret page-secret -n qa-demo -o yaml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l-PL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ourier New"/>
                <a:ea typeface="DejaVu Sans"/>
              </a:rPr>
              <a:t>echo "$(kubectl get secret page-secret -n qa-demo \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1500" spc="-1" strike="noStrike">
                <a:solidFill>
                  <a:srgbClr val="ffffff"/>
                </a:solidFill>
                <a:latin typeface="Courier New"/>
                <a:ea typeface="DejaVu Sans"/>
              </a:rPr>
              <a:t>-o jsonpath='{.data.SECRET_MESSAGE}' | base64 -d)"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l-PL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l-PL" sz="1500" spc="-1" strike="noStrike">
              <a:latin typeface="Arial"/>
            </a:endParaRPr>
          </a:p>
        </p:txBody>
      </p:sp>
      <p:sp>
        <p:nvSpPr>
          <p:cNvPr id="148" name="TextBox 19"/>
          <p:cNvSpPr/>
          <p:nvPr/>
        </p:nvSpPr>
        <p:spPr>
          <a:xfrm>
            <a:off x="1078560" y="4892040"/>
            <a:ext cx="1009584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Do manifestów można używać stringData, żeby nie kodować ręcznie Base64.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"/>
          <p:cNvSpPr/>
          <p:nvPr/>
        </p:nvSpPr>
        <p:spPr>
          <a:xfrm>
            <a:off x="0" y="6355080"/>
            <a:ext cx="12191040" cy="50220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0" name="Rectangle 2"/>
          <p:cNvSpPr/>
          <p:nvPr/>
        </p:nvSpPr>
        <p:spPr>
          <a:xfrm>
            <a:off x="411480" y="6556320"/>
            <a:ext cx="10743480" cy="1764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1" name="TextBox 3"/>
          <p:cNvSpPr/>
          <p:nvPr/>
        </p:nvSpPr>
        <p:spPr>
          <a:xfrm>
            <a:off x="998280" y="164520"/>
            <a:ext cx="17517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52" name="TextBox 4"/>
          <p:cNvSpPr/>
          <p:nvPr/>
        </p:nvSpPr>
        <p:spPr>
          <a:xfrm>
            <a:off x="10022400" y="164520"/>
            <a:ext cx="1396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53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154" name="TextBox 6"/>
          <p:cNvSpPr/>
          <p:nvPr/>
        </p:nvSpPr>
        <p:spPr>
          <a:xfrm>
            <a:off x="3690360" y="713160"/>
            <a:ext cx="487116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Struktura katalogu labu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55" name="Rounded Rectangle 7"/>
          <p:cNvSpPr/>
          <p:nvPr/>
        </p:nvSpPr>
        <p:spPr>
          <a:xfrm>
            <a:off x="2834640" y="1508760"/>
            <a:ext cx="6582960" cy="393120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37160" tIns="100440" bIns="7308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DejaVu Sans"/>
              </a:rPr>
              <a:t>05-namespace-configmap-secret/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DejaVu Sans"/>
              </a:rPr>
              <a:t>├── </a:t>
            </a: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DejaVu Sans"/>
              </a:rPr>
              <a:t>namespace.yaml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DejaVu Sans"/>
              </a:rPr>
              <a:t>├── </a:t>
            </a: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DejaVu Sans"/>
              </a:rPr>
              <a:t>configmap.yaml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DejaVu Sans"/>
              </a:rPr>
              <a:t>├── </a:t>
            </a: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DejaVu Sans"/>
              </a:rPr>
              <a:t>secret.yaml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DejaVu Sans"/>
              </a:rPr>
              <a:t>├── </a:t>
            </a: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DejaVu Sans"/>
              </a:rPr>
              <a:t>deployment.yaml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DejaVu Sans"/>
              </a:rPr>
              <a:t>└── </a:t>
            </a: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DejaVu Sans"/>
              </a:rPr>
              <a:t>service.yaml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"/>
          <p:cNvSpPr/>
          <p:nvPr/>
        </p:nvSpPr>
        <p:spPr>
          <a:xfrm>
            <a:off x="0" y="6355080"/>
            <a:ext cx="12191040" cy="50220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7" name="Rectangle 2"/>
          <p:cNvSpPr/>
          <p:nvPr/>
        </p:nvSpPr>
        <p:spPr>
          <a:xfrm>
            <a:off x="411480" y="6556320"/>
            <a:ext cx="10743480" cy="1764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8" name="TextBox 3"/>
          <p:cNvSpPr/>
          <p:nvPr/>
        </p:nvSpPr>
        <p:spPr>
          <a:xfrm>
            <a:off x="998280" y="164520"/>
            <a:ext cx="17517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59" name="TextBox 4"/>
          <p:cNvSpPr/>
          <p:nvPr/>
        </p:nvSpPr>
        <p:spPr>
          <a:xfrm>
            <a:off x="10022400" y="164520"/>
            <a:ext cx="1396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60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161" name="TextBox 6"/>
          <p:cNvSpPr/>
          <p:nvPr/>
        </p:nvSpPr>
        <p:spPr>
          <a:xfrm>
            <a:off x="2481120" y="713160"/>
            <a:ext cx="729000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Manifesty: Namespace i ConfigMap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62" name="Rounded Rectangle 7"/>
          <p:cNvSpPr/>
          <p:nvPr/>
        </p:nvSpPr>
        <p:spPr>
          <a:xfrm>
            <a:off x="685800" y="1417320"/>
            <a:ext cx="4173840" cy="443412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37160" tIns="100440" bIns="73080" anchor="ctr">
            <a:no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200" spc="-1" strike="noStrike">
                <a:solidFill>
                  <a:srgbClr val="f6e540"/>
                </a:solidFill>
                <a:latin typeface="Courier New"/>
                <a:ea typeface="DejaVu Sans"/>
              </a:rPr>
              <a:t>namespace.yaml</a:t>
            </a:r>
            <a:endParaRPr b="0" lang="pl-PL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apiVersion: v1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kind: Namespace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metadata: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name: qa-demo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63" name="Rounded Rectangle 8"/>
          <p:cNvSpPr/>
          <p:nvPr/>
        </p:nvSpPr>
        <p:spPr>
          <a:xfrm>
            <a:off x="5400000" y="1417320"/>
            <a:ext cx="6119640" cy="443412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37160" tIns="100440" bIns="73080" anchor="ctr">
            <a:no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200" spc="-1" strike="noStrike">
                <a:solidFill>
                  <a:srgbClr val="f6e540"/>
                </a:solidFill>
                <a:latin typeface="Courier New"/>
                <a:ea typeface="DejaVu Sans"/>
              </a:rPr>
              <a:t>configmap.yaml</a:t>
            </a:r>
            <a:endParaRPr b="0" lang="pl-PL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ourier New"/>
                <a:ea typeface="DejaVu Sans"/>
              </a:rPr>
              <a:t>apiVersion: v1</a:t>
            </a:r>
            <a:endParaRPr b="0" lang="pl-PL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ourier New"/>
                <a:ea typeface="DejaVu Sans"/>
              </a:rPr>
              <a:t>kind: ConfigMap</a:t>
            </a:r>
            <a:endParaRPr b="0" lang="pl-PL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ourier New"/>
                <a:ea typeface="DejaVu Sans"/>
              </a:rPr>
              <a:t>metadata:</a:t>
            </a:r>
            <a:endParaRPr b="0" lang="pl-PL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1600" spc="-1" strike="noStrike">
                <a:solidFill>
                  <a:srgbClr val="ffffff"/>
                </a:solidFill>
                <a:latin typeface="Courier New"/>
                <a:ea typeface="DejaVu Sans"/>
              </a:rPr>
              <a:t>name: page-config</a:t>
            </a:r>
            <a:endParaRPr b="0" lang="pl-PL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1600" spc="-1" strike="noStrike">
                <a:solidFill>
                  <a:srgbClr val="ffffff"/>
                </a:solidFill>
                <a:latin typeface="Courier New"/>
                <a:ea typeface="DejaVu Sans"/>
              </a:rPr>
              <a:t>namespace: qa-demo</a:t>
            </a:r>
            <a:endParaRPr b="0" lang="pl-PL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ourier New"/>
                <a:ea typeface="DejaVu Sans"/>
              </a:rPr>
              <a:t>data:</a:t>
            </a:r>
            <a:endParaRPr b="0" lang="pl-PL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1600" spc="-1" strike="noStrike">
                <a:solidFill>
                  <a:srgbClr val="ffffff"/>
                </a:solidFill>
                <a:latin typeface="Courier New"/>
                <a:ea typeface="DejaVu Sans"/>
              </a:rPr>
              <a:t>PAGE_TITLE: 'Kubernetes QA Lab'</a:t>
            </a:r>
            <a:endParaRPr b="0" lang="pl-PL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1600" spc="-1" strike="noStrike">
                <a:solidFill>
                  <a:srgbClr val="ffffff"/>
                </a:solidFill>
                <a:latin typeface="Courier New"/>
                <a:ea typeface="DejaVu Sans"/>
              </a:rPr>
              <a:t>PAGE_HEADER: 'Hello from ConfigMap'</a:t>
            </a:r>
            <a:endParaRPr b="0" lang="pl-PL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"/>
          <p:cNvSpPr/>
          <p:nvPr/>
        </p:nvSpPr>
        <p:spPr>
          <a:xfrm>
            <a:off x="0" y="6355080"/>
            <a:ext cx="12191040" cy="50220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5" name="Rectangle 2"/>
          <p:cNvSpPr/>
          <p:nvPr/>
        </p:nvSpPr>
        <p:spPr>
          <a:xfrm>
            <a:off x="411480" y="6556320"/>
            <a:ext cx="10743480" cy="1764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6" name="TextBox 3"/>
          <p:cNvSpPr/>
          <p:nvPr/>
        </p:nvSpPr>
        <p:spPr>
          <a:xfrm>
            <a:off x="998280" y="164520"/>
            <a:ext cx="17517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67" name="TextBox 4"/>
          <p:cNvSpPr/>
          <p:nvPr/>
        </p:nvSpPr>
        <p:spPr>
          <a:xfrm>
            <a:off x="10022400" y="164520"/>
            <a:ext cx="1396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68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169" name="TextBox 6"/>
          <p:cNvSpPr/>
          <p:nvPr/>
        </p:nvSpPr>
        <p:spPr>
          <a:xfrm>
            <a:off x="4434120" y="713160"/>
            <a:ext cx="338400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Manifest: Secret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70" name="Rounded Rectangle 7"/>
          <p:cNvSpPr/>
          <p:nvPr/>
        </p:nvSpPr>
        <p:spPr>
          <a:xfrm>
            <a:off x="1965960" y="1508760"/>
            <a:ext cx="8228880" cy="397692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37160" tIns="100440" bIns="73080" anchor="ctr">
            <a:no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200" spc="-1" strike="noStrike">
                <a:solidFill>
                  <a:srgbClr val="f6e540"/>
                </a:solidFill>
                <a:latin typeface="Courier New"/>
                <a:ea typeface="DejaVu Sans"/>
              </a:rPr>
              <a:t>secret.yaml</a:t>
            </a:r>
            <a:endParaRPr b="0" lang="pl-PL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apiVersion: v1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kind: Secret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metadata: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name: page-secret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namespace: qa-demo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type: Opaque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stringData: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2000" spc="-1" strike="noStrike">
                <a:solidFill>
                  <a:srgbClr val="ffffff"/>
                </a:solidFill>
                <a:latin typeface="Courier New"/>
                <a:ea typeface="DejaVu Sans"/>
              </a:rPr>
              <a:t>SECRET_MESSAGE: 'Tekst z Kubernetes Secret'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171" name="TextBox 8"/>
          <p:cNvSpPr/>
          <p:nvPr/>
        </p:nvSpPr>
        <p:spPr>
          <a:xfrm>
            <a:off x="1080000" y="5577840"/>
            <a:ext cx="100929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  <a:ea typeface="DejaVu Sans"/>
              </a:rPr>
              <a:t>stringData pozwala wpisać wartość czytelnie — Kubernetes zapisze ją jako data/Base64.</a:t>
            </a:r>
            <a:endParaRPr b="0" lang="pl-PL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0" y="6355080"/>
            <a:ext cx="12191040" cy="50220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3" name="Rectangle 2"/>
          <p:cNvSpPr/>
          <p:nvPr/>
        </p:nvSpPr>
        <p:spPr>
          <a:xfrm>
            <a:off x="411480" y="6556320"/>
            <a:ext cx="10743480" cy="1764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4" name="TextBox 3"/>
          <p:cNvSpPr/>
          <p:nvPr/>
        </p:nvSpPr>
        <p:spPr>
          <a:xfrm>
            <a:off x="998280" y="164520"/>
            <a:ext cx="17517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75" name="TextBox 4"/>
          <p:cNvSpPr/>
          <p:nvPr/>
        </p:nvSpPr>
        <p:spPr>
          <a:xfrm>
            <a:off x="10022400" y="164520"/>
            <a:ext cx="1396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76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177" name="TextBox 6"/>
          <p:cNvSpPr/>
          <p:nvPr/>
        </p:nvSpPr>
        <p:spPr>
          <a:xfrm>
            <a:off x="1305360" y="713160"/>
            <a:ext cx="964152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Deployment: initContainer generuje index.html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78" name="Rounded Rectangle 7"/>
          <p:cNvSpPr/>
          <p:nvPr/>
        </p:nvSpPr>
        <p:spPr>
          <a:xfrm>
            <a:off x="731520" y="1325880"/>
            <a:ext cx="10880640" cy="470844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37160" tIns="100440" bIns="73080" anchor="ctr">
            <a:no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200" spc="-1" strike="noStrike">
                <a:solidFill>
                  <a:srgbClr val="f6e540"/>
                </a:solidFill>
                <a:latin typeface="Courier New"/>
                <a:ea typeface="DejaVu Sans"/>
              </a:rPr>
              <a:t>deployment.yaml — fragment</a:t>
            </a:r>
            <a:endParaRPr b="0" lang="pl-PL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volumes: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- name: html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emptyDir: {}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endParaRPr b="0" lang="pl-PL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initContainers: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- name: generate-html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image: busybox:1.36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command: ['sh', '-c']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args: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  </a:t>
            </a: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- |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cat &lt;&lt;EOF &gt; /html/index.html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&lt;h1&gt;${PAGE_HEADER}&lt;/h1&gt;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&lt;p&gt;${SECRET_MESSAGE}&lt;/p&gt;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EOF</a:t>
            </a:r>
            <a:endParaRPr b="0" lang="pl-PL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"/>
          <p:cNvSpPr/>
          <p:nvPr/>
        </p:nvSpPr>
        <p:spPr>
          <a:xfrm>
            <a:off x="0" y="6355080"/>
            <a:ext cx="12191040" cy="50220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0" name="Rectangle 2"/>
          <p:cNvSpPr/>
          <p:nvPr/>
        </p:nvSpPr>
        <p:spPr>
          <a:xfrm>
            <a:off x="411480" y="6556320"/>
            <a:ext cx="10743480" cy="1764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1" name="TextBox 3"/>
          <p:cNvSpPr/>
          <p:nvPr/>
        </p:nvSpPr>
        <p:spPr>
          <a:xfrm>
            <a:off x="998280" y="164520"/>
            <a:ext cx="17517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82" name="TextBox 4"/>
          <p:cNvSpPr/>
          <p:nvPr/>
        </p:nvSpPr>
        <p:spPr>
          <a:xfrm>
            <a:off x="10022400" y="164520"/>
            <a:ext cx="1396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83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184" name="TextBox 6"/>
          <p:cNvSpPr/>
          <p:nvPr/>
        </p:nvSpPr>
        <p:spPr>
          <a:xfrm>
            <a:off x="1677240" y="713160"/>
            <a:ext cx="889776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Deployment: wartości z ConfigMap i Secret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85" name="Rounded Rectangle 7"/>
          <p:cNvSpPr/>
          <p:nvPr/>
        </p:nvSpPr>
        <p:spPr>
          <a:xfrm>
            <a:off x="685800" y="1325880"/>
            <a:ext cx="5439960" cy="479988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37160" tIns="100440" bIns="73080" anchor="ctr">
            <a:no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200" spc="-1" strike="noStrike">
                <a:solidFill>
                  <a:srgbClr val="f6e540"/>
                </a:solidFill>
                <a:latin typeface="Courier New"/>
                <a:ea typeface="DejaVu Sans"/>
              </a:rPr>
              <a:t>initContainer env</a:t>
            </a:r>
            <a:endParaRPr b="0" lang="pl-PL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env: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- name: PAGE_HEADER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valueFrom: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  </a:t>
            </a: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configMapKeyRef: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name: page-config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key: PAGE_HEADER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- name: SECRET_MESSAGE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valueFrom: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  </a:t>
            </a: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secretKeyRef: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name: page-secret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DejaVu Sans"/>
              </a:rPr>
              <a:t>key: SECRET_MESSAGE</a:t>
            </a:r>
            <a:endParaRPr b="0" lang="pl-PL" sz="1400" spc="-1" strike="noStrike">
              <a:latin typeface="Arial"/>
            </a:endParaRPr>
          </a:p>
        </p:txBody>
      </p:sp>
      <p:sp>
        <p:nvSpPr>
          <p:cNvPr id="186" name="Rounded Rectangle 8"/>
          <p:cNvSpPr/>
          <p:nvPr/>
        </p:nvSpPr>
        <p:spPr>
          <a:xfrm>
            <a:off x="6400800" y="1325880"/>
            <a:ext cx="5165640" cy="479988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37160" tIns="100440" bIns="73080" anchor="ctr">
            <a:no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200" spc="-1" strike="noStrike">
                <a:solidFill>
                  <a:srgbClr val="f6e540"/>
                </a:solidFill>
                <a:latin typeface="Courier New"/>
                <a:ea typeface="DejaVu Sans"/>
              </a:rPr>
              <a:t>nginx</a:t>
            </a:r>
            <a:endParaRPr b="0" lang="pl-PL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ourier New"/>
                <a:ea typeface="DejaVu Sans"/>
              </a:rPr>
              <a:t>containers: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1500" spc="-1" strike="noStrike">
                <a:solidFill>
                  <a:srgbClr val="ffffff"/>
                </a:solidFill>
                <a:latin typeface="Courier New"/>
                <a:ea typeface="DejaVu Sans"/>
              </a:rPr>
              <a:t>- name: nginx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ffffff"/>
                </a:solidFill>
                <a:latin typeface="Courier New"/>
                <a:ea typeface="DejaVu Sans"/>
              </a:rPr>
              <a:t>image: nginx:1.27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ffffff"/>
                </a:solidFill>
                <a:latin typeface="Courier New"/>
                <a:ea typeface="DejaVu Sans"/>
              </a:rPr>
              <a:t>ports: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  </a:t>
            </a:r>
            <a:r>
              <a:rPr b="0" lang="en-US" sz="1500" spc="-1" strike="noStrike">
                <a:solidFill>
                  <a:srgbClr val="ffffff"/>
                </a:solidFill>
                <a:latin typeface="Courier New"/>
                <a:ea typeface="DejaVu Sans"/>
              </a:rPr>
              <a:t>- containerPort: 80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ffffff"/>
                </a:solidFill>
                <a:latin typeface="Courier New"/>
                <a:ea typeface="DejaVu Sans"/>
              </a:rPr>
              <a:t>volumeMounts: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  </a:t>
            </a:r>
            <a:r>
              <a:rPr b="0" lang="en-US" sz="1500" spc="-1" strike="noStrike">
                <a:solidFill>
                  <a:srgbClr val="ffffff"/>
                </a:solidFill>
                <a:latin typeface="Courier New"/>
                <a:ea typeface="DejaVu Sans"/>
              </a:rPr>
              <a:t>- name: html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    </a:t>
            </a:r>
            <a:r>
              <a:rPr b="0" lang="en-US" sz="1500" spc="-1" strike="noStrike">
                <a:solidFill>
                  <a:srgbClr val="ffffff"/>
                </a:solidFill>
                <a:latin typeface="Courier New"/>
                <a:ea typeface="DejaVu Sans"/>
              </a:rPr>
              <a:t>mountPath: /usr/share/nginx/html</a:t>
            </a:r>
            <a:endParaRPr b="0" lang="pl-PL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"/>
          <p:cNvSpPr/>
          <p:nvPr/>
        </p:nvSpPr>
        <p:spPr>
          <a:xfrm>
            <a:off x="0" y="6355080"/>
            <a:ext cx="12191040" cy="50220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8" name="Rectangle 2"/>
          <p:cNvSpPr/>
          <p:nvPr/>
        </p:nvSpPr>
        <p:spPr>
          <a:xfrm>
            <a:off x="411480" y="6556320"/>
            <a:ext cx="10743480" cy="1764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9" name="TextBox 3"/>
          <p:cNvSpPr/>
          <p:nvPr/>
        </p:nvSpPr>
        <p:spPr>
          <a:xfrm>
            <a:off x="998280" y="164520"/>
            <a:ext cx="17517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90" name="TextBox 4"/>
          <p:cNvSpPr/>
          <p:nvPr/>
        </p:nvSpPr>
        <p:spPr>
          <a:xfrm>
            <a:off x="10022400" y="164520"/>
            <a:ext cx="1396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91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192" name="TextBox 6"/>
          <p:cNvSpPr/>
          <p:nvPr/>
        </p:nvSpPr>
        <p:spPr>
          <a:xfrm>
            <a:off x="4325760" y="713160"/>
            <a:ext cx="360036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Manifest: Service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93" name="Rounded Rectangle 7"/>
          <p:cNvSpPr/>
          <p:nvPr/>
        </p:nvSpPr>
        <p:spPr>
          <a:xfrm>
            <a:off x="2011680" y="1508760"/>
            <a:ext cx="8137440" cy="356544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37160" tIns="100440" bIns="73080" anchor="ctr">
            <a:no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200" spc="-1" strike="noStrike">
                <a:solidFill>
                  <a:srgbClr val="f6e540"/>
                </a:solidFill>
                <a:latin typeface="Courier New"/>
                <a:ea typeface="DejaVu Sans"/>
              </a:rPr>
              <a:t>service.yaml</a:t>
            </a:r>
            <a:endParaRPr b="0" lang="pl-PL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apiVersion: v1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kind: Service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metadata: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name: nginx-secret-demo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namespace: qa-demo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spec: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selector: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app: nginx-secret-demo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ports: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- port: 80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    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  <a:ea typeface="DejaVu Sans"/>
              </a:rPr>
              <a:t>targetPort: 80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94" name="TextBox 8"/>
          <p:cNvSpPr/>
          <p:nvPr/>
        </p:nvSpPr>
        <p:spPr>
          <a:xfrm>
            <a:off x="2926080" y="5349240"/>
            <a:ext cx="639972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Service daje stabilny punkt dostępu do Poda nginx.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1"/>
          <p:cNvSpPr/>
          <p:nvPr/>
        </p:nvSpPr>
        <p:spPr>
          <a:xfrm>
            <a:off x="0" y="6355080"/>
            <a:ext cx="12191040" cy="50220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6" name="Rectangle 2"/>
          <p:cNvSpPr/>
          <p:nvPr/>
        </p:nvSpPr>
        <p:spPr>
          <a:xfrm>
            <a:off x="411480" y="6556320"/>
            <a:ext cx="10743480" cy="1764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7" name="TextBox 3"/>
          <p:cNvSpPr/>
          <p:nvPr/>
        </p:nvSpPr>
        <p:spPr>
          <a:xfrm>
            <a:off x="998280" y="164520"/>
            <a:ext cx="17517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98" name="TextBox 4"/>
          <p:cNvSpPr/>
          <p:nvPr/>
        </p:nvSpPr>
        <p:spPr>
          <a:xfrm>
            <a:off x="10022400" y="164520"/>
            <a:ext cx="1396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99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200" name="TextBox 6"/>
          <p:cNvSpPr/>
          <p:nvPr/>
        </p:nvSpPr>
        <p:spPr>
          <a:xfrm>
            <a:off x="4156560" y="713160"/>
            <a:ext cx="393876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Uruchomienie labu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201" name="Rounded Rectangle 7"/>
          <p:cNvSpPr/>
          <p:nvPr/>
        </p:nvSpPr>
        <p:spPr>
          <a:xfrm>
            <a:off x="1005840" y="1417320"/>
            <a:ext cx="10240560" cy="310824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37160" tIns="100440" bIns="7308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apply -f namespace.yaml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apply -f configmap.yaml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apply -f secret.yaml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apply -f deployment.yaml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apply -f service.yaml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202" name="TextBox 8"/>
          <p:cNvSpPr/>
          <p:nvPr/>
        </p:nvSpPr>
        <p:spPr>
          <a:xfrm>
            <a:off x="2505600" y="4892040"/>
            <a:ext cx="724104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300" spc="-1" strike="noStrike">
                <a:solidFill>
                  <a:srgbClr val="f6e540"/>
                </a:solidFill>
                <a:latin typeface="Arial"/>
                <a:ea typeface="DejaVu Sans"/>
              </a:rPr>
              <a:t>Wszystkie zasoby powstają w namespace qa-demo.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1"/>
          <p:cNvSpPr/>
          <p:nvPr/>
        </p:nvSpPr>
        <p:spPr>
          <a:xfrm>
            <a:off x="0" y="6355080"/>
            <a:ext cx="12191040" cy="50220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4" name="Rectangle 2"/>
          <p:cNvSpPr/>
          <p:nvPr/>
        </p:nvSpPr>
        <p:spPr>
          <a:xfrm>
            <a:off x="411480" y="6556320"/>
            <a:ext cx="10743480" cy="1764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5" name="TextBox 3"/>
          <p:cNvSpPr/>
          <p:nvPr/>
        </p:nvSpPr>
        <p:spPr>
          <a:xfrm>
            <a:off x="998280" y="164520"/>
            <a:ext cx="17517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206" name="TextBox 4"/>
          <p:cNvSpPr/>
          <p:nvPr/>
        </p:nvSpPr>
        <p:spPr>
          <a:xfrm>
            <a:off x="10022400" y="164520"/>
            <a:ext cx="1396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207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208" name="TextBox 6"/>
          <p:cNvSpPr/>
          <p:nvPr/>
        </p:nvSpPr>
        <p:spPr>
          <a:xfrm>
            <a:off x="3808440" y="713160"/>
            <a:ext cx="463500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Sprawdzenie działania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209" name="Rounded Rectangle 7"/>
          <p:cNvSpPr/>
          <p:nvPr/>
        </p:nvSpPr>
        <p:spPr>
          <a:xfrm>
            <a:off x="868680" y="1417320"/>
            <a:ext cx="10880640" cy="201096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37160" tIns="100440" bIns="7308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get all -n qa-demo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get configmap -n qa-demo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get secret -n qa-demo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describe pod -n qa-demo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210" name="Rounded Rectangle 8"/>
          <p:cNvSpPr/>
          <p:nvPr/>
        </p:nvSpPr>
        <p:spPr>
          <a:xfrm>
            <a:off x="868680" y="3794760"/>
            <a:ext cx="10880640" cy="118800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37160" tIns="100440" bIns="7308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DejaVu Sans"/>
              </a:rPr>
              <a:t>kubectl port-forward -n qa-demo svc/nginx-secret-demo 8080:80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  <a:ea typeface="DejaVu Sans"/>
              </a:rPr>
              <a:t>curl http://localhost:8080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211" name="TextBox 9"/>
          <p:cNvSpPr/>
          <p:nvPr/>
        </p:nvSpPr>
        <p:spPr>
          <a:xfrm>
            <a:off x="3506040" y="5440680"/>
            <a:ext cx="524016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300" spc="-1" strike="noStrike">
                <a:solidFill>
                  <a:srgbClr val="f6e540"/>
                </a:solidFill>
                <a:latin typeface="Arial"/>
                <a:ea typeface="DejaVu Sans"/>
              </a:rPr>
              <a:t>W przeglądarce: http://localhost:8080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1"/>
          <p:cNvSpPr/>
          <p:nvPr/>
        </p:nvSpPr>
        <p:spPr>
          <a:xfrm>
            <a:off x="0" y="6355080"/>
            <a:ext cx="12191040" cy="50220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3" name="Rectangle 2"/>
          <p:cNvSpPr/>
          <p:nvPr/>
        </p:nvSpPr>
        <p:spPr>
          <a:xfrm>
            <a:off x="411480" y="6556320"/>
            <a:ext cx="10743480" cy="1764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4" name="TextBox 3"/>
          <p:cNvSpPr/>
          <p:nvPr/>
        </p:nvSpPr>
        <p:spPr>
          <a:xfrm>
            <a:off x="998280" y="164520"/>
            <a:ext cx="17517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215" name="TextBox 4"/>
          <p:cNvSpPr/>
          <p:nvPr/>
        </p:nvSpPr>
        <p:spPr>
          <a:xfrm>
            <a:off x="10022400" y="164520"/>
            <a:ext cx="1396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216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217" name="TextBox 6"/>
          <p:cNvSpPr/>
          <p:nvPr/>
        </p:nvSpPr>
        <p:spPr>
          <a:xfrm>
            <a:off x="2957400" y="713160"/>
            <a:ext cx="633744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Co diagnozujemy w tym labie?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218" name="TextBox 7"/>
          <p:cNvSpPr/>
          <p:nvPr/>
        </p:nvSpPr>
        <p:spPr>
          <a:xfrm>
            <a:off x="2324160" y="1645920"/>
            <a:ext cx="7786800" cy="23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45720" tIns="1836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• </a:t>
            </a: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czy Pod wystartował i initContainer zakończył pracę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• </a:t>
            </a: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czy ConfigMap i Secret istnieją w tym samym namespace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• </a:t>
            </a: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czy zmienne środowiskowe zostały poprawnie podpięte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• </a:t>
            </a: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czy Service wskazuje właściwe Pody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• </a:t>
            </a:r>
            <a:r>
              <a:rPr b="0" lang="en-US" sz="2300" spc="-1" strike="noStrike">
                <a:solidFill>
                  <a:srgbClr val="ffffff"/>
                </a:solidFill>
                <a:latin typeface="Arial"/>
                <a:ea typeface="DejaVu Sans"/>
              </a:rPr>
              <a:t>czy port-forward pozwala wejść na stronę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angle 1"/>
          <p:cNvSpPr/>
          <p:nvPr/>
        </p:nvSpPr>
        <p:spPr>
          <a:xfrm>
            <a:off x="0" y="6355080"/>
            <a:ext cx="12191040" cy="50220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0" name="Rectangle 2"/>
          <p:cNvSpPr/>
          <p:nvPr/>
        </p:nvSpPr>
        <p:spPr>
          <a:xfrm>
            <a:off x="411480" y="6556320"/>
            <a:ext cx="10743480" cy="1764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1" name="TextBox 3"/>
          <p:cNvSpPr/>
          <p:nvPr/>
        </p:nvSpPr>
        <p:spPr>
          <a:xfrm>
            <a:off x="998280" y="164520"/>
            <a:ext cx="17517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222" name="TextBox 4"/>
          <p:cNvSpPr/>
          <p:nvPr/>
        </p:nvSpPr>
        <p:spPr>
          <a:xfrm>
            <a:off x="10022400" y="164520"/>
            <a:ext cx="1396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223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224" name="TextBox 6"/>
          <p:cNvSpPr/>
          <p:nvPr/>
        </p:nvSpPr>
        <p:spPr>
          <a:xfrm>
            <a:off x="4396680" y="713160"/>
            <a:ext cx="345852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  <a:ea typeface="DejaVu Sans"/>
              </a:rPr>
              <a:t>Do zapamiętania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225" name="Rounded Rectangle 7"/>
          <p:cNvSpPr/>
          <p:nvPr/>
        </p:nvSpPr>
        <p:spPr>
          <a:xfrm>
            <a:off x="914400" y="1874520"/>
            <a:ext cx="3016800" cy="127944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  <a:ea typeface="DejaVu Sans"/>
              </a:rPr>
              <a:t>Namespace</a:t>
            </a:r>
            <a:endParaRPr b="0" lang="pl-PL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porządkuje</a:t>
            </a:r>
            <a:endParaRPr b="0" lang="pl-PL" sz="17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zasoby</a:t>
            </a:r>
            <a:endParaRPr b="0" lang="pl-PL" sz="1700" spc="-1" strike="noStrike">
              <a:latin typeface="Arial"/>
            </a:endParaRPr>
          </a:p>
        </p:txBody>
      </p:sp>
      <p:sp>
        <p:nvSpPr>
          <p:cNvPr id="226" name="Rounded Rectangle 8"/>
          <p:cNvSpPr/>
          <p:nvPr/>
        </p:nvSpPr>
        <p:spPr>
          <a:xfrm>
            <a:off x="4572000" y="1874520"/>
            <a:ext cx="3016800" cy="127944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  <a:ea typeface="DejaVu Sans"/>
              </a:rPr>
              <a:t>ConfigMap</a:t>
            </a:r>
            <a:endParaRPr b="0" lang="pl-PL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konfiguracja</a:t>
            </a:r>
            <a:endParaRPr b="0" lang="pl-PL" sz="17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bez sekretów</a:t>
            </a:r>
            <a:endParaRPr b="0" lang="pl-PL" sz="1700" spc="-1" strike="noStrike">
              <a:latin typeface="Arial"/>
            </a:endParaRPr>
          </a:p>
        </p:txBody>
      </p:sp>
      <p:sp>
        <p:nvSpPr>
          <p:cNvPr id="227" name="Rounded Rectangle 9"/>
          <p:cNvSpPr/>
          <p:nvPr/>
        </p:nvSpPr>
        <p:spPr>
          <a:xfrm>
            <a:off x="8229600" y="1874520"/>
            <a:ext cx="3016800" cy="127944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  <a:ea typeface="DejaVu Sans"/>
              </a:rPr>
              <a:t>Secret</a:t>
            </a:r>
            <a:endParaRPr b="0" lang="pl-PL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dane</a:t>
            </a:r>
            <a:endParaRPr b="0" lang="pl-PL" sz="17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rial"/>
                <a:ea typeface="DejaVu Sans"/>
              </a:rPr>
              <a:t>wrażliwe</a:t>
            </a:r>
            <a:endParaRPr b="0" lang="pl-PL" sz="1700" spc="-1" strike="noStrike">
              <a:latin typeface="Arial"/>
            </a:endParaRPr>
          </a:p>
        </p:txBody>
      </p:sp>
      <p:sp>
        <p:nvSpPr>
          <p:cNvPr id="228" name="TextBox 10"/>
          <p:cNvSpPr/>
          <p:nvPr/>
        </p:nvSpPr>
        <p:spPr>
          <a:xfrm>
            <a:off x="1675800" y="4251960"/>
            <a:ext cx="880920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  <a:ea typeface="DejaVu Sans"/>
              </a:rPr>
              <a:t>Dla QA najważniejsze: sprawdzić, czy aplikacja dostała właściwą konfigurację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  <a:ea typeface="DejaVu Sans"/>
              </a:rPr>
              <a:t>i czy działa w oczekiwanym namespace.</a:t>
            </a:r>
            <a:endParaRPr b="0" lang="pl-PL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pl-PL</dc:language>
  <cp:lastModifiedBy/>
  <dcterms:modified xsi:type="dcterms:W3CDTF">2026-06-09T22:22:54Z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