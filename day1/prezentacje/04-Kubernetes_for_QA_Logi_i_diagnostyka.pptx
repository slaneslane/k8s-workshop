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jpeg" ContentType="image/jpeg"/>
  <Override PartName="/ppt/media/image11.jpeg" ContentType="image/jpeg"/>
  <Override PartName="/ppt/media/image15.jpeg" ContentType="image/jpeg"/>
  <Override PartName="/ppt/media/image14.jpeg" ContentType="image/jpeg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7.jpeg" ContentType="image/jpeg"/>
  <Override PartName="/ppt/media/image12.jpeg" ContentType="image/jpeg"/>
  <Override PartName="/ppt/media/image10.jpeg" ContentType="image/jpeg"/>
  <Override PartName="/ppt/media/image8.jpeg" ContentType="image/jpeg"/>
  <Override PartName="/ppt/media/image13.jpeg" ContentType="image/jpeg"/>
  <Override PartName="/ppt/presProps.xml" ContentType="application/vnd.openxmlformats-officedocument.presentationml.presPro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52A2B1-453C-4BE2-B234-A59AAC548AA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946021-A448-492A-8E54-5C4C8889FE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B22DE48-0321-4C35-876C-E1152232730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6D53068-C975-4E34-AAAB-C2CA11C942C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A9EA70-1A9C-4B90-B5FE-B08EBE95BD6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08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l-PL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3DCED7-52B0-40D1-9529-7847FB024DB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23E2F6E-ECC1-4C3E-9DED-75208A5FE19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A1BF2DA-FCE7-4929-9C6D-906AE3C12CB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F6EA48-EAE8-4B5D-ABD2-55AA66386EB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0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E15776-95BB-48A8-B6D1-2503443AB88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A1FB29-7074-4577-A91D-09DBB2E7892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9B7277-5FDA-457E-B937-1F1429D455E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l-PL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&lt;data/godzina&gt;</a:t>
            </a:r>
            <a:endParaRPr b="0" lang="pl-PL" sz="12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pl-PL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pl-PL" sz="1400" spc="-1" strike="noStrike">
                <a:latin typeface="Times New Roman"/>
              </a:rPr>
              <a:t>&lt;stopka&gt;</a:t>
            </a:r>
            <a:endParaRPr b="0" lang="pl-PL" sz="14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80816C5-C320-4360-8DB0-4905230364C8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&lt;numer&gt;</a:t>
            </a:fld>
            <a:endParaRPr b="0" lang="pl-PL" sz="12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Kliknij, aby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edytować format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tekstu tytułu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Kliknij, aby edytować format tekstu konspektu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Drugi poziom konspektu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Trzeci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Czwarty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Piąty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Szósty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Siódmy poziom konspektu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2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43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44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45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46" name="TextBox 6"/>
          <p:cNvSpPr/>
          <p:nvPr/>
        </p:nvSpPr>
        <p:spPr>
          <a:xfrm>
            <a:off x="731520" y="1417320"/>
            <a:ext cx="106981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4200" spc="-1" strike="noStrike">
                <a:solidFill>
                  <a:srgbClr val="f6e540"/>
                </a:solidFill>
                <a:latin typeface="Arial"/>
              </a:rPr>
              <a:t>04 — Logi i diagnostyka aplikacji</a:t>
            </a:r>
            <a:endParaRPr b="0" lang="pl-PL" sz="4200" spc="-1" strike="noStrike"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1143000" y="2331720"/>
            <a:ext cx="9875160" cy="47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Arial"/>
              </a:rPr>
              <a:t>kubectl get • describe • logs • exec • port-forward</a:t>
            </a:r>
            <a:endParaRPr b="0" lang="pl-PL" sz="2500" spc="-1" strike="noStrike">
              <a:latin typeface="Arial"/>
            </a:endParaRPr>
          </a:p>
        </p:txBody>
      </p:sp>
      <p:sp>
        <p:nvSpPr>
          <p:cNvPr id="48" name="Rounded Rectangle 8"/>
          <p:cNvSpPr/>
          <p:nvPr/>
        </p:nvSpPr>
        <p:spPr>
          <a:xfrm>
            <a:off x="2743200" y="3703320"/>
            <a:ext cx="6674760" cy="9140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500" spc="-1" strike="noStrike">
                <a:solidFill>
                  <a:srgbClr val="ffffff"/>
                </a:solidFill>
                <a:latin typeface="Courier New"/>
              </a:rPr>
              <a:t>kubectl logs deployment/qa-web -f</a:t>
            </a:r>
            <a:endParaRPr b="0" lang="pl-PL" sz="2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0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1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2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5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54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Cel modułu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55" name="TextBox 7"/>
          <p:cNvSpPr/>
          <p:nvPr/>
        </p:nvSpPr>
        <p:spPr>
          <a:xfrm>
            <a:off x="1188720" y="1600200"/>
            <a:ext cx="978372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umieć sprawdzić, czy aplikacja działa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odczytać logi Poda i Deploymentu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zobaczyć eventy i szczegóły obiektu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wejść do kontenera i zweryfikować środowisko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zdiagnozować podstawowe problemy z dostępem do aplikacji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7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58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60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61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Workflow QA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62" name="Rounded Rectangle 7"/>
          <p:cNvSpPr/>
          <p:nvPr/>
        </p:nvSpPr>
        <p:spPr>
          <a:xfrm>
            <a:off x="960120" y="187452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14074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1</a:t>
            </a:r>
            <a:br>
              <a:rPr sz="2000"/>
            </a:b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Status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63" name="Rounded Rectangle 8"/>
          <p:cNvSpPr/>
          <p:nvPr/>
        </p:nvSpPr>
        <p:spPr>
          <a:xfrm>
            <a:off x="3429000" y="187452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14074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2</a:t>
            </a:r>
            <a:br>
              <a:rPr sz="2000"/>
            </a:b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Szczegóły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64" name="Rounded Rectangle 9"/>
          <p:cNvSpPr/>
          <p:nvPr/>
        </p:nvSpPr>
        <p:spPr>
          <a:xfrm>
            <a:off x="5897880" y="187452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14074"/>
          </a:solidFill>
          <a:ln w="1524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3</a:t>
            </a:r>
            <a:br>
              <a:rPr sz="2000"/>
            </a:b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Logi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65" name="Rounded Rectangle 10"/>
          <p:cNvSpPr/>
          <p:nvPr/>
        </p:nvSpPr>
        <p:spPr>
          <a:xfrm>
            <a:off x="8366760" y="1874520"/>
            <a:ext cx="2011320" cy="731160"/>
          </a:xfrm>
          <a:prstGeom prst="roundRect">
            <a:avLst>
              <a:gd name="adj" fmla="val 16667"/>
            </a:avLst>
          </a:prstGeom>
          <a:solidFill>
            <a:srgbClr val="314074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4</a:t>
            </a:r>
            <a:br>
              <a:rPr sz="2000"/>
            </a:br>
            <a:r>
              <a:rPr b="1" lang="en-US" sz="2000" spc="-1" strike="noStrike">
                <a:solidFill>
                  <a:srgbClr val="ffffff"/>
                </a:solidFill>
                <a:latin typeface="Arial"/>
              </a:rPr>
              <a:t>Test dostępu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66" name="TextBox 11"/>
          <p:cNvSpPr/>
          <p:nvPr/>
        </p:nvSpPr>
        <p:spPr>
          <a:xfrm>
            <a:off x="2971800" y="2057400"/>
            <a:ext cx="4568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3200" spc="-1" strike="noStrike">
              <a:latin typeface="Arial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5440680" y="2057400"/>
            <a:ext cx="4568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3200" spc="-1" strike="noStrike">
              <a:latin typeface="Arial"/>
            </a:endParaRPr>
          </a:p>
        </p:txBody>
      </p:sp>
      <p:sp>
        <p:nvSpPr>
          <p:cNvPr id="68" name="TextBox 13"/>
          <p:cNvSpPr/>
          <p:nvPr/>
        </p:nvSpPr>
        <p:spPr>
          <a:xfrm>
            <a:off x="7909560" y="2057400"/>
            <a:ext cx="456840" cy="5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200" spc="-1" strike="noStrike">
                <a:solidFill>
                  <a:srgbClr val="f6e540"/>
                </a:solidFill>
                <a:latin typeface="Arial"/>
              </a:rPr>
              <a:t>→</a:t>
            </a:r>
            <a:endParaRPr b="0" lang="pl-PL" sz="3200" spc="-1" strike="noStrike">
              <a:latin typeface="Arial"/>
            </a:endParaRPr>
          </a:p>
        </p:txBody>
      </p:sp>
      <p:sp>
        <p:nvSpPr>
          <p:cNvPr id="69" name="Rounded Rectangle 14"/>
          <p:cNvSpPr/>
          <p:nvPr/>
        </p:nvSpPr>
        <p:spPr>
          <a:xfrm>
            <a:off x="1371600" y="3291840"/>
            <a:ext cx="9417960" cy="13255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kubectl logs &lt;pod-name&gt;</a:t>
            </a:r>
            <a:endParaRPr b="0" lang="pl-PL" sz="20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000" spc="-1" strike="noStrike">
                <a:solidFill>
                  <a:srgbClr val="ffffff"/>
                </a:solidFill>
                <a:latin typeface="Courier New"/>
              </a:rPr>
              <a:t>kubectl port-forward svc/qa-web 8080:80</a:t>
            </a:r>
            <a:endParaRPr b="0" lang="pl-PL" sz="2000" spc="-1" strike="noStrike">
              <a:latin typeface="Arial"/>
            </a:endParaRPr>
          </a:p>
        </p:txBody>
      </p:sp>
      <p:sp>
        <p:nvSpPr>
          <p:cNvPr id="70" name="TextBox 15"/>
          <p:cNvSpPr/>
          <p:nvPr/>
        </p:nvSpPr>
        <p:spPr>
          <a:xfrm>
            <a:off x="1280160" y="4983480"/>
            <a:ext cx="9875160" cy="40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Najpierw status. Potem szczegóły. Na końcu logi i test dostępu.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2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73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74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75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76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Status obiektów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77" name="Rounded Rectangle 7"/>
          <p:cNvSpPr/>
          <p:nvPr/>
        </p:nvSpPr>
        <p:spPr>
          <a:xfrm>
            <a:off x="1234440" y="1691640"/>
            <a:ext cx="9738000" cy="18284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pods -o wide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deployment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svc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78" name="TextBox 8"/>
          <p:cNvSpPr/>
          <p:nvPr/>
        </p:nvSpPr>
        <p:spPr>
          <a:xfrm>
            <a:off x="1234440" y="3886200"/>
            <a:ext cx="973800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Najczęściej zaczynamy od pytania: co działa, co nie działa i gdzie działa?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0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1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82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83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84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describe: szczegóły i eventy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85" name="Rounded Rectangle 7"/>
          <p:cNvSpPr/>
          <p:nvPr/>
        </p:nvSpPr>
        <p:spPr>
          <a:xfrm>
            <a:off x="1143000" y="1645920"/>
            <a:ext cx="9920880" cy="17370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deployment qa-web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svc qa-web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1143000" y="3703320"/>
            <a:ext cx="992088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describe pokazuje konfigurację obiektu, status, powiązania oraz eventy.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87" name="Rounded Rectangle 9"/>
          <p:cNvSpPr/>
          <p:nvPr/>
        </p:nvSpPr>
        <p:spPr>
          <a:xfrm>
            <a:off x="2011680" y="4572000"/>
            <a:ext cx="8229240" cy="59400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 algn="ctr"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Courier New"/>
              </a:rPr>
              <a:t>kubectl get events --sort-by=.lastTimestamp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89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0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1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92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93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Logi: podstawy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94" name="Rounded Rectangle 7"/>
          <p:cNvSpPr/>
          <p:nvPr/>
        </p:nvSpPr>
        <p:spPr>
          <a:xfrm>
            <a:off x="1143000" y="1691640"/>
            <a:ext cx="9920880" cy="18741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logs &lt;pod-name&gt;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logs deployment/qa-web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logs &lt;pod-name&gt; -c &lt;container-name&gt;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95" name="TextBox 8"/>
          <p:cNvSpPr/>
          <p:nvPr/>
        </p:nvSpPr>
        <p:spPr>
          <a:xfrm>
            <a:off x="1280160" y="3977640"/>
            <a:ext cx="9646560" cy="7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Jeśli Pod ma jeden kontener, nazwa kontenera zwykle nie jest potrzebna.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7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99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0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1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Logi: opcje przydatne dla QA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02" name="Rounded Rectangle 7"/>
          <p:cNvSpPr/>
          <p:nvPr/>
        </p:nvSpPr>
        <p:spPr>
          <a:xfrm>
            <a:off x="914400" y="1600200"/>
            <a:ext cx="10378080" cy="251424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deployment/qa-web -f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&lt;pod-name&gt; --tail=50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&lt;pod-name&gt; --since=10m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&lt;pod-name&gt; --previous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03" name="TextBox 8"/>
          <p:cNvSpPr/>
          <p:nvPr/>
        </p:nvSpPr>
        <p:spPr>
          <a:xfrm>
            <a:off x="1097280" y="4480560"/>
            <a:ext cx="996660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100" spc="-1" strike="noStrike">
                <a:solidFill>
                  <a:srgbClr val="ffffff"/>
                </a:solidFill>
                <a:latin typeface="Arial"/>
              </a:rPr>
              <a:t>--previous jest bardzo przydatne przy CrashLoopBackOff, bo pokazuje logi poprzedniego uruchomienia kontenera.</a:t>
            </a:r>
            <a:endParaRPr b="0" lang="pl-PL" sz="2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5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06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07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08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09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Aplikacja testowa do logów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0" name="TextBox 7"/>
          <p:cNvSpPr/>
          <p:nvPr/>
        </p:nvSpPr>
        <p:spPr>
          <a:xfrm>
            <a:off x="1097280" y="1463040"/>
            <a:ext cx="996660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Prosty Deployment, który co kilka sekund zapisuje komunikat do logów.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11" name="Rounded Rectangle 8"/>
          <p:cNvSpPr/>
          <p:nvPr/>
        </p:nvSpPr>
        <p:spPr>
          <a:xfrm>
            <a:off x="1051560" y="2148840"/>
            <a:ext cx="10468440" cy="30711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apiVersion: apps/v1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kind: Deployment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metadata: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name: qa-logger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spec: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template: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spec: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  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containers: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  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- name: logger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    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image: busybox:1.36</a:t>
            </a:r>
            <a:endParaRPr b="0" lang="pl-PL" sz="15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        </a:t>
            </a:r>
            <a:r>
              <a:rPr b="0" lang="en-US" sz="1500" spc="-1" strike="noStrike">
                <a:solidFill>
                  <a:srgbClr val="ffffff"/>
                </a:solidFill>
                <a:latin typeface="Courier New"/>
              </a:rPr>
              <a:t>command: ["sh", "-c", "while true; do date; echo QA log event; sleep 5; done"]</a:t>
            </a:r>
            <a:endParaRPr b="0" lang="pl-PL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3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14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15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16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17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Lab: obserwacja logów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18" name="Rounded Rectangle 7"/>
          <p:cNvSpPr/>
          <p:nvPr/>
        </p:nvSpPr>
        <p:spPr>
          <a:xfrm>
            <a:off x="1051560" y="1600200"/>
            <a:ext cx="10103760" cy="26056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apply -f logger-deployment.yaml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deployment/qa-logger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deployment/qa-logger -f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19" name="TextBox 8"/>
          <p:cNvSpPr/>
          <p:nvPr/>
        </p:nvSpPr>
        <p:spPr>
          <a:xfrm>
            <a:off x="1097280" y="4572000"/>
            <a:ext cx="996660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To najprostszy sposób pokazania, że logi są strumieniem zdarzeń aplikacji.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1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2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23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24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25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exec: wejście do kontenera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26" name="Rounded Rectangle 7"/>
          <p:cNvSpPr/>
          <p:nvPr/>
        </p:nvSpPr>
        <p:spPr>
          <a:xfrm>
            <a:off x="1051560" y="1600200"/>
            <a:ext cx="10103760" cy="23313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kubectl exec -it &lt;pod-name&gt; -- sh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ps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env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ls -la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Courier New"/>
              </a:rPr>
              <a:t>cat /etc/os-release</a:t>
            </a:r>
            <a:endParaRPr b="0" lang="pl-PL" sz="2400" spc="-1" strike="noStrike">
              <a:latin typeface="Arial"/>
            </a:endParaRPr>
          </a:p>
        </p:txBody>
      </p:sp>
      <p:sp>
        <p:nvSpPr>
          <p:cNvPr id="127" name="TextBox 8"/>
          <p:cNvSpPr/>
          <p:nvPr/>
        </p:nvSpPr>
        <p:spPr>
          <a:xfrm>
            <a:off x="1143000" y="4343400"/>
            <a:ext cx="9875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exec służy do szybkiej weryfikacji środowiska uruchomieniowego kontenera.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29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0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1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32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33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Diagnostyka Service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34" name="Rounded Rectangle 7"/>
          <p:cNvSpPr/>
          <p:nvPr/>
        </p:nvSpPr>
        <p:spPr>
          <a:xfrm>
            <a:off x="1051560" y="1600200"/>
            <a:ext cx="10103760" cy="233136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svc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describe svc qa-web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port-forward svc/qa-web 8080:80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35" name="TextBox 8"/>
          <p:cNvSpPr/>
          <p:nvPr/>
        </p:nvSpPr>
        <p:spPr>
          <a:xfrm>
            <a:off x="1143000" y="4343400"/>
            <a:ext cx="98751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Jeśli Service nie ma endpointów, zwykle selector nie pasuje do etykiet Podów.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7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8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39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40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41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Typowe objawy i pierwsze kroki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42" name="Rounded Rectangle 7"/>
          <p:cNvSpPr/>
          <p:nvPr/>
        </p:nvSpPr>
        <p:spPr>
          <a:xfrm>
            <a:off x="777240" y="1600200"/>
            <a:ext cx="2742840" cy="502560"/>
          </a:xfrm>
          <a:prstGeom prst="roundRect">
            <a:avLst>
              <a:gd name="adj" fmla="val 16667"/>
            </a:avLst>
          </a:prstGeom>
          <a:solidFill>
            <a:srgbClr val="314074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</a:rPr>
              <a:t>Objaw</a:t>
            </a:r>
            <a:endParaRPr b="0" lang="pl-PL" sz="1900" spc="-1" strike="noStrike">
              <a:latin typeface="Arial"/>
            </a:endParaRPr>
          </a:p>
        </p:txBody>
      </p:sp>
      <p:sp>
        <p:nvSpPr>
          <p:cNvPr id="143" name="Rounded Rectangle 8"/>
          <p:cNvSpPr/>
          <p:nvPr/>
        </p:nvSpPr>
        <p:spPr>
          <a:xfrm>
            <a:off x="3703320" y="1600200"/>
            <a:ext cx="3657240" cy="502560"/>
          </a:xfrm>
          <a:prstGeom prst="roundRect">
            <a:avLst>
              <a:gd name="adj" fmla="val 16667"/>
            </a:avLst>
          </a:prstGeom>
          <a:solidFill>
            <a:srgbClr val="314074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</a:rPr>
              <a:t>Pierwsza komenda</a:t>
            </a:r>
            <a:endParaRPr b="0" lang="pl-PL" sz="1900" spc="-1" strike="noStrike">
              <a:latin typeface="Arial"/>
            </a:endParaRPr>
          </a:p>
        </p:txBody>
      </p:sp>
      <p:sp>
        <p:nvSpPr>
          <p:cNvPr id="144" name="Rounded Rectangle 9"/>
          <p:cNvSpPr/>
          <p:nvPr/>
        </p:nvSpPr>
        <p:spPr>
          <a:xfrm>
            <a:off x="7543800" y="1600200"/>
            <a:ext cx="3840120" cy="502560"/>
          </a:xfrm>
          <a:prstGeom prst="roundRect">
            <a:avLst>
              <a:gd name="adj" fmla="val 16667"/>
            </a:avLst>
          </a:prstGeom>
          <a:solidFill>
            <a:srgbClr val="314074"/>
          </a:solidFill>
          <a:ln w="15240">
            <a:solidFill>
              <a:srgbClr val="f6e54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</a:pPr>
            <a:r>
              <a:rPr b="1" lang="en-US" sz="1900" spc="-1" strike="noStrike">
                <a:solidFill>
                  <a:srgbClr val="ffffff"/>
                </a:solidFill>
                <a:latin typeface="Arial"/>
              </a:rPr>
              <a:t>Czego szukamy</a:t>
            </a:r>
            <a:endParaRPr b="0" lang="pl-PL" sz="19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822960" y="2331720"/>
            <a:ext cx="274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Pod Pending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46" name="TextBox 11"/>
          <p:cNvSpPr/>
          <p:nvPr/>
        </p:nvSpPr>
        <p:spPr>
          <a:xfrm>
            <a:off x="3749040" y="233172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describe pod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47" name="TextBox 12"/>
          <p:cNvSpPr/>
          <p:nvPr/>
        </p:nvSpPr>
        <p:spPr>
          <a:xfrm>
            <a:off x="7589520" y="2331720"/>
            <a:ext cx="38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brak zasobów / volume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48" name="TextBox 13"/>
          <p:cNvSpPr/>
          <p:nvPr/>
        </p:nvSpPr>
        <p:spPr>
          <a:xfrm>
            <a:off x="822960" y="2907720"/>
            <a:ext cx="274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CrashLoopBackOff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49" name="TextBox 14"/>
          <p:cNvSpPr/>
          <p:nvPr/>
        </p:nvSpPr>
        <p:spPr>
          <a:xfrm>
            <a:off x="3749040" y="290772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logs --previous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0" name="TextBox 15"/>
          <p:cNvSpPr/>
          <p:nvPr/>
        </p:nvSpPr>
        <p:spPr>
          <a:xfrm>
            <a:off x="7589520" y="2907720"/>
            <a:ext cx="38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błąd startu aplikacji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1" name="TextBox 16"/>
          <p:cNvSpPr/>
          <p:nvPr/>
        </p:nvSpPr>
        <p:spPr>
          <a:xfrm>
            <a:off x="822960" y="3483720"/>
            <a:ext cx="274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ImagePullBackOff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2" name="TextBox 17"/>
          <p:cNvSpPr/>
          <p:nvPr/>
        </p:nvSpPr>
        <p:spPr>
          <a:xfrm>
            <a:off x="3749040" y="348372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describe pod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3" name="TextBox 18"/>
          <p:cNvSpPr/>
          <p:nvPr/>
        </p:nvSpPr>
        <p:spPr>
          <a:xfrm>
            <a:off x="7589520" y="3483720"/>
            <a:ext cx="38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błędny obraz / registry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4" name="TextBox 19"/>
          <p:cNvSpPr/>
          <p:nvPr/>
        </p:nvSpPr>
        <p:spPr>
          <a:xfrm>
            <a:off x="822960" y="4060080"/>
            <a:ext cx="2742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Brak dostępu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5" name="TextBox 20"/>
          <p:cNvSpPr/>
          <p:nvPr/>
        </p:nvSpPr>
        <p:spPr>
          <a:xfrm>
            <a:off x="3749040" y="406008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get endpoints</a:t>
            </a:r>
            <a:endParaRPr b="0" lang="pl-PL" sz="1800" spc="-1" strike="noStrike">
              <a:latin typeface="Arial"/>
            </a:endParaRPr>
          </a:p>
        </p:txBody>
      </p:sp>
      <p:sp>
        <p:nvSpPr>
          <p:cNvPr id="156" name="TextBox 21"/>
          <p:cNvSpPr/>
          <p:nvPr/>
        </p:nvSpPr>
        <p:spPr>
          <a:xfrm>
            <a:off x="7589520" y="4060080"/>
            <a:ext cx="38401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selector / port / targetPort</a:t>
            </a:r>
            <a:endParaRPr b="0" lang="pl-PL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8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59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1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62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Lab: diagnoza krok po kroku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63" name="Rounded Rectangle 7"/>
          <p:cNvSpPr/>
          <p:nvPr/>
        </p:nvSpPr>
        <p:spPr>
          <a:xfrm>
            <a:off x="914400" y="1600200"/>
            <a:ext cx="10332360" cy="306288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pods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describe pod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&lt;pod-name&gt;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logs &lt;pod-name&gt; --previous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svc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get endpoints</a:t>
            </a:r>
            <a:endParaRPr b="0" lang="pl-PL" sz="22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Courier New"/>
              </a:rPr>
              <a:t>kubectl port-forward svc/qa-web 8080:80</a:t>
            </a:r>
            <a:endParaRPr b="0" lang="pl-PL" sz="2200" spc="-1" strike="noStrike">
              <a:latin typeface="Arial"/>
            </a:endParaRPr>
          </a:p>
        </p:txBody>
      </p:sp>
      <p:sp>
        <p:nvSpPr>
          <p:cNvPr id="164" name="TextBox 8"/>
          <p:cNvSpPr/>
          <p:nvPr/>
        </p:nvSpPr>
        <p:spPr>
          <a:xfrm>
            <a:off x="1143000" y="4983480"/>
            <a:ext cx="98751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Ten zestaw komend rozwiązuje większość pierwszych problemów aplikacyjnych.</a:t>
            </a:r>
            <a:endParaRPr b="0" lang="pl-PL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68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69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70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Dobre praktyki dla QA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1" name="TextBox 7"/>
          <p:cNvSpPr/>
          <p:nvPr/>
        </p:nvSpPr>
        <p:spPr>
          <a:xfrm>
            <a:off x="1188720" y="1600200"/>
            <a:ext cx="9783720" cy="242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zawsze zaczynaj od kubectl get pods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describe pokazuje powód problemu częściej niż logi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przy restartach sprawdzaj logs --previous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dla Service sprawdzaj endpoints</a:t>
            </a:r>
            <a:endParaRPr b="0" lang="pl-PL" sz="24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1001"/>
              </a:spcAft>
              <a:buNone/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nie drukuj sekretów w logach aplikacji</a:t>
            </a:r>
            <a:endParaRPr b="0" lang="pl-PL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f2a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0" y="6364080"/>
            <a:ext cx="12191400" cy="493560"/>
          </a:xfrm>
          <a:prstGeom prst="rect">
            <a:avLst/>
          </a:prstGeom>
          <a:solidFill>
            <a:srgbClr val="19223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3" name="Rectangle 2"/>
          <p:cNvSpPr/>
          <p:nvPr/>
        </p:nvSpPr>
        <p:spPr>
          <a:xfrm>
            <a:off x="411480" y="6556320"/>
            <a:ext cx="10789560" cy="18000"/>
          </a:xfrm>
          <a:prstGeom prst="rect">
            <a:avLst/>
          </a:prstGeom>
          <a:solidFill>
            <a:srgbClr val="48588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4" name="TextBox 3"/>
          <p:cNvSpPr/>
          <p:nvPr/>
        </p:nvSpPr>
        <p:spPr>
          <a:xfrm>
            <a:off x="411480" y="164520"/>
            <a:ext cx="292572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 for QA</a:t>
            </a:r>
            <a:endParaRPr b="0" lang="pl-PL" sz="1500" spc="-1" strike="noStrike">
              <a:latin typeface="Arial"/>
            </a:endParaRPr>
          </a:p>
        </p:txBody>
      </p:sp>
      <p:sp>
        <p:nvSpPr>
          <p:cNvPr id="175" name="TextBox 4"/>
          <p:cNvSpPr/>
          <p:nvPr/>
        </p:nvSpPr>
        <p:spPr>
          <a:xfrm>
            <a:off x="9646920" y="164520"/>
            <a:ext cx="2148480" cy="31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☸ </a:t>
            </a:r>
            <a:r>
              <a:rPr b="1" lang="en-US" sz="1500" spc="-1" strike="noStrike">
                <a:solidFill>
                  <a:srgbClr val="ffffff"/>
                </a:solidFill>
                <a:latin typeface="Arial"/>
              </a:rPr>
              <a:t>Kubernetes</a:t>
            </a:r>
            <a:endParaRPr b="0" lang="pl-PL" sz="1500" spc="-1" strike="noStrike">
              <a:latin typeface="Arial"/>
            </a:endParaRPr>
          </a:p>
        </p:txBody>
      </p:sp>
      <p:pic>
        <p:nvPicPr>
          <p:cNvPr id="176" name="Picture 5" descr="images.jpeg"/>
          <p:cNvPicPr/>
          <p:nvPr/>
        </p:nvPicPr>
        <p:blipFill>
          <a:blip r:embed="rId1"/>
          <a:stretch/>
        </p:blipFill>
        <p:spPr>
          <a:xfrm>
            <a:off x="11475720" y="6446520"/>
            <a:ext cx="273960" cy="273960"/>
          </a:xfrm>
          <a:prstGeom prst="rect">
            <a:avLst/>
          </a:prstGeom>
          <a:ln w="0">
            <a:noFill/>
          </a:ln>
        </p:spPr>
      </p:pic>
      <p:sp>
        <p:nvSpPr>
          <p:cNvPr id="177" name="TextBox 6"/>
          <p:cNvSpPr/>
          <p:nvPr/>
        </p:nvSpPr>
        <p:spPr>
          <a:xfrm>
            <a:off x="777240" y="713160"/>
            <a:ext cx="10698120" cy="60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1" lang="en-US" sz="3400" spc="-1" strike="noStrike">
                <a:solidFill>
                  <a:srgbClr val="f6e540"/>
                </a:solidFill>
                <a:latin typeface="Arial"/>
              </a:rPr>
              <a:t>Sprzątanie środowiska</a:t>
            </a:r>
            <a:endParaRPr b="0" lang="pl-PL" sz="3400" spc="-1" strike="noStrike">
              <a:latin typeface="Arial"/>
            </a:endParaRPr>
          </a:p>
        </p:txBody>
      </p:sp>
      <p:sp>
        <p:nvSpPr>
          <p:cNvPr id="178" name="Rounded Rectangle 7"/>
          <p:cNvSpPr/>
          <p:nvPr/>
        </p:nvSpPr>
        <p:spPr>
          <a:xfrm>
            <a:off x="1234440" y="1828800"/>
            <a:ext cx="9738000" cy="2011320"/>
          </a:xfrm>
          <a:prstGeom prst="roundRect">
            <a:avLst>
              <a:gd name="adj" fmla="val 16667"/>
            </a:avLst>
          </a:prstGeom>
          <a:solidFill>
            <a:srgbClr val="12182d"/>
          </a:solidFill>
          <a:ln w="17780">
            <a:solidFill>
              <a:srgbClr val="00c2a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201240" rIns="109800" tIns="109800" bIns="91440" anchor="ctr">
            <a:noAutofit/>
          </a:bodyPr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delete -f logger-deployment.yaml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delete deployment qa-web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delete svc qa-web</a:t>
            </a:r>
            <a:endParaRPr b="0" lang="pl-PL" sz="2300" spc="-1" strike="noStrike"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Courier New"/>
              </a:rPr>
              <a:t>kubectl get all</a:t>
            </a:r>
            <a:endParaRPr b="0" lang="pl-PL" sz="2300" spc="-1" strike="noStrike">
              <a:latin typeface="Arial"/>
            </a:endParaRPr>
          </a:p>
        </p:txBody>
      </p:sp>
      <p:sp>
        <p:nvSpPr>
          <p:cNvPr id="179" name="TextBox 8"/>
          <p:cNvSpPr/>
          <p:nvPr/>
        </p:nvSpPr>
        <p:spPr>
          <a:xfrm>
            <a:off x="1234440" y="4343400"/>
            <a:ext cx="9738000" cy="4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spcAft>
                <a:spcPts val="400"/>
              </a:spcAft>
              <a:buNone/>
            </a:pPr>
            <a:r>
              <a:rPr b="0" lang="en-US" sz="2300" spc="-1" strike="noStrike">
                <a:solidFill>
                  <a:srgbClr val="ffffff"/>
                </a:solidFill>
                <a:latin typeface="Arial"/>
              </a:rPr>
              <a:t>Po labie warto zostawić klaster w znanym stanie.</a:t>
            </a:r>
            <a:endParaRPr b="0" lang="pl-PL" sz="2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pl-PL</dc:language>
  <cp:lastModifiedBy/>
  <dcterms:modified xsi:type="dcterms:W3CDTF">2026-06-09T22:21:45Z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