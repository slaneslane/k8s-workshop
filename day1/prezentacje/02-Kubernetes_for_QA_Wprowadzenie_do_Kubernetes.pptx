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2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media/image10.jpeg" ContentType="image/jpeg"/>
  <Override PartName="/ppt/media/image8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ptos"/>
              </a:rPr>
              <a:t>Kliknij, aby przesunąć </a:t>
            </a:r>
            <a:r>
              <a:rPr b="0" lang="pl-PL" sz="1800" spc="-1" strike="noStrike">
                <a:solidFill>
                  <a:srgbClr val="000000"/>
                </a:solidFill>
                <a:latin typeface="Aptos"/>
              </a:rPr>
              <a:t>slajd</a:t>
            </a:r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2000" spc="-1" strike="noStrike">
                <a:latin typeface="Arial"/>
              </a:rPr>
              <a:t>Kliknij, aby edytować </a:t>
            </a:r>
            <a:r>
              <a:rPr b="0" lang="pl-PL" sz="2000" spc="-1" strike="noStrike">
                <a:latin typeface="Arial"/>
              </a:rPr>
              <a:t>format notatek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00" spc="-1" strike="noStrike">
                <a:latin typeface="Times New Roman"/>
              </a:rPr>
              <a:t>&lt;główka&gt;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l-PL" sz="1400" spc="-1" strike="noStrike">
                <a:latin typeface="Times New Roman"/>
              </a:rPr>
              <a:t>&lt;data/godzina&gt;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l-PL" sz="1400" spc="-1" strike="noStrike">
                <a:latin typeface="Times New Roman"/>
              </a:defRPr>
            </a:lvl1pPr>
          </a:lstStyle>
          <a:p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28A5E1B-64E3-4E14-94A8-6CEA0882D3DC}" type="slidenum">
              <a:rPr b="0" lang="pl-PL" sz="1400" spc="-1" strike="noStrike">
                <a:latin typeface="Times New Roman"/>
              </a:rPr>
              <a:t>&lt;numer&gt;</a:t>
            </a:fld>
            <a:endParaRPr b="0" lang="pl-PL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D995FE-F3EC-48C7-9E18-B987A16D4E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B09892-41D4-4059-941B-1ACF39DDD5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F3D781-ED61-4361-96C2-E6CB8F2266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350305-B4E2-409F-A314-14DF2A6576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52711D-320B-45B7-B233-146C48F759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EBB324-64B6-42C3-A2AF-8C60C081B5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7A7EC8-67B7-4F2D-AA18-7C13E63369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3DEE8F-9D5B-4E05-8658-A4176C1714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9D583E-22F3-44D4-A258-00FD275A92F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EA4EEA-D6F3-4CC9-AA78-A921414E3D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DDAB75-AD14-467B-8D97-D2CB2006F3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F8C314-AA3E-4E5A-AD11-5B02ABDC3A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A371A3-9D26-442C-800D-9AD642C980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666C96-2779-40BE-B804-62021EB1A4F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l-PL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498BD4-CE69-4C8F-92AC-1D4E295F47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ptos"/>
              </a:rPr>
              <a:t>Kliknij, aby edytować </a:t>
            </a:r>
            <a:r>
              <a:rPr b="0" lang="pl-PL" sz="1800" spc="-1" strike="noStrike">
                <a:solidFill>
                  <a:srgbClr val="000000"/>
                </a:solidFill>
                <a:latin typeface="Aptos"/>
              </a:rPr>
              <a:t>format tekstu tytułu</a:t>
            </a:r>
            <a:endParaRPr b="0" lang="pl-PL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000000"/>
                </a:solidFill>
                <a:latin typeface="Aptos"/>
              </a:rPr>
              <a:t>Kliknij, aby edytować format tekstu konspektu</a:t>
            </a:r>
            <a:endParaRPr b="0" lang="pl-PL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000000"/>
                </a:solidFill>
                <a:latin typeface="Aptos"/>
              </a:rPr>
              <a:t>Drugi poziom konspektu</a:t>
            </a:r>
            <a:endParaRPr b="0" lang="pl-PL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ptos"/>
              </a:rPr>
              <a:t>Trzeci poziom konspektu</a:t>
            </a:r>
            <a:endParaRPr b="0" lang="pl-PL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000000"/>
                </a:solidFill>
                <a:latin typeface="Aptos"/>
              </a:rPr>
              <a:t>Czwarty poziom konspektu</a:t>
            </a:r>
            <a:endParaRPr b="0" lang="pl-PL" sz="20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ptos"/>
              </a:rPr>
              <a:t>Piąty poziom konspektu</a:t>
            </a:r>
            <a:endParaRPr b="0" lang="pl-PL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ptos"/>
              </a:rPr>
              <a:t>Szósty poziom konspektu</a:t>
            </a:r>
            <a:endParaRPr b="0" lang="pl-PL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ptos"/>
              </a:rPr>
              <a:t>Siódmy poziom konspektu</a:t>
            </a:r>
            <a:endParaRPr b="0" lang="pl-PL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7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48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731520" y="141732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6e540"/>
                </a:solidFill>
                <a:latin typeface="Aptos"/>
                <a:ea typeface="Aptos"/>
              </a:rPr>
              <a:t>Kubernetes for QA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1280160" y="22676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6e540"/>
                </a:solidFill>
                <a:latin typeface="Aptos"/>
                <a:ea typeface="Aptos"/>
              </a:rPr>
              <a:t>Wprowadzenie do Kubernetes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1280160" y="29077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Architektura • k3s • kubectl • CLI → YAML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108960" y="3977640"/>
            <a:ext cx="5988960" cy="776880"/>
          </a:xfrm>
          <a:prstGeom prst="roundRect">
            <a:avLst>
              <a:gd name="adj" fmla="val 14118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310200" y="4087440"/>
            <a:ext cx="5586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get nodes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7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58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Gdzie jesteśmy?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1188720" y="2103120"/>
            <a:ext cx="2468520" cy="914040"/>
          </a:xfrm>
          <a:prstGeom prst="roundRect">
            <a:avLst>
              <a:gd name="adj" fmla="val 12000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6"/>
          <p:cNvSpPr/>
          <p:nvPr/>
        </p:nvSpPr>
        <p:spPr>
          <a:xfrm>
            <a:off x="1261800" y="2148840"/>
            <a:ext cx="232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Kontener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Docker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794760" y="2560320"/>
            <a:ext cx="777240" cy="360"/>
          </a:xfrm>
          <a:prstGeom prst="line">
            <a:avLst/>
          </a:prstGeom>
          <a:ln w="19050">
            <a:solidFill>
              <a:srgbClr val="f6e5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8"/>
          <p:cNvSpPr/>
          <p:nvPr/>
        </p:nvSpPr>
        <p:spPr>
          <a:xfrm>
            <a:off x="4800600" y="2103120"/>
            <a:ext cx="2468520" cy="914040"/>
          </a:xfrm>
          <a:prstGeom prst="roundRect">
            <a:avLst>
              <a:gd name="adj" fmla="val 12000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9"/>
          <p:cNvSpPr/>
          <p:nvPr/>
        </p:nvSpPr>
        <p:spPr>
          <a:xfrm>
            <a:off x="4873680" y="2148840"/>
            <a:ext cx="232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Pod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7406640" y="2560320"/>
            <a:ext cx="777240" cy="360"/>
          </a:xfrm>
          <a:prstGeom prst="line">
            <a:avLst/>
          </a:prstGeom>
          <a:ln w="19050">
            <a:solidFill>
              <a:srgbClr val="f6e5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11"/>
          <p:cNvSpPr/>
          <p:nvPr/>
        </p:nvSpPr>
        <p:spPr>
          <a:xfrm>
            <a:off x="8412480" y="2103120"/>
            <a:ext cx="2468520" cy="914040"/>
          </a:xfrm>
          <a:prstGeom prst="roundRect">
            <a:avLst>
              <a:gd name="adj" fmla="val 12000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2"/>
          <p:cNvSpPr/>
          <p:nvPr/>
        </p:nvSpPr>
        <p:spPr>
          <a:xfrm>
            <a:off x="8485560" y="2148840"/>
            <a:ext cx="232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Aplikacja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w klastrze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188720" y="393192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4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Teraz przechodzimy od pojedynczego kontenera do zarządzania aplikacjami w klastrze.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2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3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Dlaczego Kubernetes?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645920" y="1874520"/>
            <a:ext cx="89607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ptos"/>
                <a:ea typeface="Aptos"/>
              </a:rPr>
              <a:t>aplikacje składają się z wielu usług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ptos"/>
                <a:ea typeface="Aptos"/>
              </a:rPr>
              <a:t>kontenery muszą być uruchamiane, restartowane i skalowane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ptos"/>
                <a:ea typeface="Aptos"/>
              </a:rPr>
              <a:t>środowiska QA powinny być powtarzalne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ptos"/>
                <a:ea typeface="Aptos"/>
              </a:rPr>
              <a:t>potrzebujemy prostego sposobu na diagnostykę problemów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188720" y="48920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Kubernetes automatyzuje uruchamianie i utrzymanie aplikacji kontenerowych.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0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81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Czym jest Kubernetes?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914400" y="16916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ptos"/>
                <a:ea typeface="Aptos"/>
              </a:rPr>
              <a:t>Kubernetes to platforma do orkiestracji kontenerów.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828800" y="2743200"/>
            <a:ext cx="87778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ptos"/>
                <a:ea typeface="Aptos"/>
              </a:rPr>
              <a:t>uruchamia aplikacje zgodnie z deklaracją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ptos"/>
                <a:ea typeface="Aptos"/>
              </a:rPr>
              <a:t>pilnuje liczby replik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ptos"/>
                <a:ea typeface="Aptos"/>
              </a:rPr>
              <a:t>zapewnia stabilny dostęp do usług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ptos"/>
                <a:ea typeface="Aptos"/>
              </a:rPr>
              <a:t>pomaga w rolloutach i self-healingu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2"/>
          <p:cNvSpPr/>
          <p:nvPr/>
        </p:nvSpPr>
        <p:spPr>
          <a:xfrm>
            <a:off x="935640" y="164520"/>
            <a:ext cx="1877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pl-PL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9959760" y="164520"/>
            <a:ext cx="1522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pl-PL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pl-PL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9" name="Picture 5" descr="image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2311920" y="749880"/>
            <a:ext cx="762876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l-PL" sz="3400" spc="-1" strike="noStrike">
                <a:solidFill>
                  <a:srgbClr val="f6e540"/>
                </a:solidFill>
                <a:latin typeface="Arial"/>
              </a:rPr>
              <a:t>Architektura Kubernetes — schemat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1" name="Rounded Rectangle 7"/>
          <p:cNvSpPr/>
          <p:nvPr/>
        </p:nvSpPr>
        <p:spPr>
          <a:xfrm>
            <a:off x="731520" y="2743200"/>
            <a:ext cx="1828440" cy="685440"/>
          </a:xfrm>
          <a:prstGeom prst="roundRect">
            <a:avLst>
              <a:gd name="adj" fmla="val 16667"/>
            </a:avLst>
          </a:prstGeom>
          <a:solidFill>
            <a:srgbClr val="2d3e73"/>
          </a:solidFill>
          <a:ln w="15240">
            <a:solidFill>
              <a:srgbClr val="f6e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500" spc="-1" strike="noStrike">
                <a:solidFill>
                  <a:srgbClr val="ffffff"/>
                </a:solidFill>
                <a:latin typeface="Arial"/>
              </a:rPr>
              <a:t>QA / Dev</a:t>
            </a:r>
            <a:endParaRPr b="0" lang="pl-PL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pl-PL" sz="1500" spc="-1" strike="noStrike">
                <a:solidFill>
                  <a:srgbClr val="ffffff"/>
                </a:solidFill>
                <a:latin typeface="Arial"/>
              </a:rPr>
              <a:t>kubectl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2690640" y="2880360"/>
            <a:ext cx="5619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l-PL" sz="30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93" name="Rounded Rectangle 9"/>
          <p:cNvSpPr/>
          <p:nvPr/>
        </p:nvSpPr>
        <p:spPr>
          <a:xfrm>
            <a:off x="3429000" y="1600200"/>
            <a:ext cx="3474360" cy="2971440"/>
          </a:xfrm>
          <a:prstGeom prst="roundRect">
            <a:avLst>
              <a:gd name="adj" fmla="val 16667"/>
            </a:avLst>
          </a:prstGeom>
          <a:solidFill>
            <a:srgbClr val="263563"/>
          </a:solidFill>
          <a:ln w="19050">
            <a:solidFill>
              <a:srgbClr val="f6e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10"/>
          <p:cNvSpPr/>
          <p:nvPr/>
        </p:nvSpPr>
        <p:spPr>
          <a:xfrm>
            <a:off x="4248720" y="1755720"/>
            <a:ext cx="1834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rgbClr val="f6e540"/>
                </a:solidFill>
                <a:latin typeface="Arial"/>
              </a:rPr>
              <a:t>Control Plane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95" name="Rounded Rectangle 11"/>
          <p:cNvSpPr/>
          <p:nvPr/>
        </p:nvSpPr>
        <p:spPr>
          <a:xfrm>
            <a:off x="3749040" y="2240280"/>
            <a:ext cx="283428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400" spc="-1" strike="noStrike">
                <a:solidFill>
                  <a:srgbClr val="ffffff"/>
                </a:solidFill>
                <a:latin typeface="Arial"/>
              </a:rPr>
              <a:t>API Server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96" name="Rounded Rectangle 12"/>
          <p:cNvSpPr/>
          <p:nvPr/>
        </p:nvSpPr>
        <p:spPr>
          <a:xfrm>
            <a:off x="3749040" y="2788920"/>
            <a:ext cx="132552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300" spc="-1" strike="noStrike">
                <a:solidFill>
                  <a:srgbClr val="ffffff"/>
                </a:solidFill>
                <a:latin typeface="Arial"/>
              </a:rPr>
              <a:t>Scheduler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97" name="Rounded Rectangle 13"/>
          <p:cNvSpPr/>
          <p:nvPr/>
        </p:nvSpPr>
        <p:spPr>
          <a:xfrm>
            <a:off x="5257800" y="2788920"/>
            <a:ext cx="132552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300" spc="-1" strike="noStrike">
                <a:solidFill>
                  <a:srgbClr val="ffffff"/>
                </a:solidFill>
                <a:latin typeface="Arial"/>
              </a:rPr>
              <a:t>Controllers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98" name="Rounded Rectangle 14"/>
          <p:cNvSpPr/>
          <p:nvPr/>
        </p:nvSpPr>
        <p:spPr>
          <a:xfrm>
            <a:off x="3749040" y="3337560"/>
            <a:ext cx="283428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300" spc="-1" strike="noStrike">
                <a:solidFill>
                  <a:srgbClr val="ffffff"/>
                </a:solidFill>
                <a:latin typeface="Arial"/>
              </a:rPr>
              <a:t>etcd — stan klastra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99" name="Rounded Rectangle 15"/>
          <p:cNvSpPr/>
          <p:nvPr/>
        </p:nvSpPr>
        <p:spPr>
          <a:xfrm>
            <a:off x="7543800" y="1600200"/>
            <a:ext cx="3748680" cy="2971440"/>
          </a:xfrm>
          <a:prstGeom prst="roundRect">
            <a:avLst>
              <a:gd name="adj" fmla="val 16667"/>
            </a:avLst>
          </a:prstGeom>
          <a:solidFill>
            <a:srgbClr val="263563"/>
          </a:solidFill>
          <a:ln w="1905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16"/>
          <p:cNvSpPr/>
          <p:nvPr/>
        </p:nvSpPr>
        <p:spPr>
          <a:xfrm>
            <a:off x="8541720" y="1755720"/>
            <a:ext cx="1761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rgbClr val="f6e540"/>
                </a:solidFill>
                <a:latin typeface="Arial"/>
              </a:rPr>
              <a:t>Worker Node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01" name="Rounded Rectangle 17"/>
          <p:cNvSpPr/>
          <p:nvPr/>
        </p:nvSpPr>
        <p:spPr>
          <a:xfrm>
            <a:off x="7818120" y="2240280"/>
            <a:ext cx="146268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400" spc="-1" strike="noStrike">
                <a:solidFill>
                  <a:srgbClr val="ffffff"/>
                </a:solidFill>
                <a:latin typeface="Arial"/>
              </a:rPr>
              <a:t>kubelet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02" name="Rounded Rectangle 18"/>
          <p:cNvSpPr/>
          <p:nvPr/>
        </p:nvSpPr>
        <p:spPr>
          <a:xfrm>
            <a:off x="9464040" y="2240280"/>
            <a:ext cx="150840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400" spc="-1" strike="noStrike">
                <a:solidFill>
                  <a:srgbClr val="ffffff"/>
                </a:solidFill>
                <a:latin typeface="Arial"/>
              </a:rPr>
              <a:t>runtime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03" name="Rounded Rectangle 19"/>
          <p:cNvSpPr/>
          <p:nvPr/>
        </p:nvSpPr>
        <p:spPr>
          <a:xfrm>
            <a:off x="7818120" y="2971800"/>
            <a:ext cx="959760" cy="502560"/>
          </a:xfrm>
          <a:prstGeom prst="roundRect">
            <a:avLst>
              <a:gd name="adj" fmla="val 16667"/>
            </a:avLst>
          </a:prstGeom>
          <a:solidFill>
            <a:srgbClr val="304687"/>
          </a:solidFill>
          <a:ln w="15240">
            <a:solidFill>
              <a:srgbClr val="f6e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400" spc="-1" strike="noStrike">
                <a:solidFill>
                  <a:srgbClr val="ffffff"/>
                </a:solidFill>
                <a:latin typeface="Arial"/>
              </a:rPr>
              <a:t>Pod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04" name="Rounded Rectangle 20"/>
          <p:cNvSpPr/>
          <p:nvPr/>
        </p:nvSpPr>
        <p:spPr>
          <a:xfrm>
            <a:off x="8961120" y="2971800"/>
            <a:ext cx="959760" cy="502560"/>
          </a:xfrm>
          <a:prstGeom prst="roundRect">
            <a:avLst>
              <a:gd name="adj" fmla="val 16667"/>
            </a:avLst>
          </a:prstGeom>
          <a:solidFill>
            <a:srgbClr val="304687"/>
          </a:solidFill>
          <a:ln w="15240">
            <a:solidFill>
              <a:srgbClr val="f6e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400" spc="-1" strike="noStrike">
                <a:solidFill>
                  <a:srgbClr val="ffffff"/>
                </a:solidFill>
                <a:latin typeface="Arial"/>
              </a:rPr>
              <a:t>Pod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05" name="Rounded Rectangle 21"/>
          <p:cNvSpPr/>
          <p:nvPr/>
        </p:nvSpPr>
        <p:spPr>
          <a:xfrm>
            <a:off x="10104120" y="2971800"/>
            <a:ext cx="959760" cy="502560"/>
          </a:xfrm>
          <a:prstGeom prst="roundRect">
            <a:avLst>
              <a:gd name="adj" fmla="val 16667"/>
            </a:avLst>
          </a:prstGeom>
          <a:solidFill>
            <a:srgbClr val="304687"/>
          </a:solidFill>
          <a:ln w="15240">
            <a:solidFill>
              <a:srgbClr val="f6e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400" spc="-1" strike="noStrike">
                <a:solidFill>
                  <a:srgbClr val="ffffff"/>
                </a:solidFill>
                <a:latin typeface="Arial"/>
              </a:rPr>
              <a:t>Pod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06" name="Rounded Rectangle 22"/>
          <p:cNvSpPr/>
          <p:nvPr/>
        </p:nvSpPr>
        <p:spPr>
          <a:xfrm>
            <a:off x="7818120" y="3749040"/>
            <a:ext cx="3245760" cy="4111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l-PL" sz="1300" spc="-1" strike="noStrike">
                <a:solidFill>
                  <a:srgbClr val="ffffff"/>
                </a:solidFill>
                <a:latin typeface="Arial"/>
              </a:rPr>
              <a:t>Services / ConfigMaps / Secrets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6920640" y="2788920"/>
            <a:ext cx="560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l-PL" sz="30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1489680" y="4892040"/>
            <a:ext cx="9273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l-PL" sz="2200" spc="-1" strike="noStrike">
                <a:solidFill>
                  <a:srgbClr val="ffffff"/>
                </a:solidFill>
                <a:latin typeface="Arial"/>
              </a:rPr>
              <a:t>Control Plane podejmuje decyzje. Worker Node uruchamia aplikacje.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2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13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Control Plane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325880" y="1874520"/>
            <a:ext cx="96922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API Server — główny punkt komunikacji z klastrem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Scheduler — wybiera node dla nowego Poda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Controller Manager — pilnuje stanu klastra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etcd — baza stanu klastra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2194560" y="4617720"/>
            <a:ext cx="7772040" cy="685440"/>
          </a:xfrm>
          <a:prstGeom prst="roundRect">
            <a:avLst>
              <a:gd name="adj" fmla="val 16000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7"/>
          <p:cNvSpPr/>
          <p:nvPr/>
        </p:nvSpPr>
        <p:spPr>
          <a:xfrm>
            <a:off x="2395800" y="4727520"/>
            <a:ext cx="73695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 →  API Server  →  Kubernetes state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1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22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Worker Node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1417320" y="1874520"/>
            <a:ext cx="95094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kubelet — agent node’a, rozmawia z API Serverem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container runtime — uruchamia kontenery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Pod — miejsce, w którym działa aplikacja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kube-proxy / networking — komunikacja z usługami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1188720" y="48920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Dla QA najważniejsze: gdzie działa aplikacja i jak sprawdzić jej stan.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9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30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Pod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005840" y="164592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ptos"/>
                <a:ea typeface="Aptos"/>
              </a:rPr>
              <a:t>Pod to najmniejsza jednostka uruchomieniowa w Kubernetes.</a:t>
            </a:r>
            <a:endParaRPr b="0" lang="pl-PL" sz="2700" spc="-1" strike="noStrike"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4023360" y="2514600"/>
            <a:ext cx="4205880" cy="1416960"/>
          </a:xfrm>
          <a:prstGeom prst="roundRect">
            <a:avLst>
              <a:gd name="adj" fmla="val 7742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7"/>
          <p:cNvSpPr/>
          <p:nvPr/>
        </p:nvSpPr>
        <p:spPr>
          <a:xfrm>
            <a:off x="4096440" y="2560320"/>
            <a:ext cx="40597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Pod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Container: nginx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1188720" y="475488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W praktyce QA najczęściej sprawdza: status, logi i opis Poda.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9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40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Deployment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1005840" y="169164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"/>
                <a:ea typeface="Aptos"/>
              </a:rPr>
              <a:t>Deployment opisuje stan docelowy aplikacji.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1143000" y="2743200"/>
            <a:ext cx="2377080" cy="822600"/>
          </a:xfrm>
          <a:prstGeom prst="roundRect">
            <a:avLst>
              <a:gd name="adj" fmla="val 13333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7"/>
          <p:cNvSpPr/>
          <p:nvPr/>
        </p:nvSpPr>
        <p:spPr>
          <a:xfrm>
            <a:off x="1216080" y="2788920"/>
            <a:ext cx="22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Deployment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replicas: 3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3657600" y="3154680"/>
            <a:ext cx="731520" cy="360"/>
          </a:xfrm>
          <a:prstGeom prst="line">
            <a:avLst/>
          </a:prstGeom>
          <a:ln w="19050">
            <a:solidFill>
              <a:srgbClr val="f6e5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9"/>
          <p:cNvSpPr/>
          <p:nvPr/>
        </p:nvSpPr>
        <p:spPr>
          <a:xfrm>
            <a:off x="4572000" y="2743200"/>
            <a:ext cx="1188360" cy="822600"/>
          </a:xfrm>
          <a:prstGeom prst="roundRect">
            <a:avLst>
              <a:gd name="adj" fmla="val 13333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0"/>
          <p:cNvSpPr/>
          <p:nvPr/>
        </p:nvSpPr>
        <p:spPr>
          <a:xfrm>
            <a:off x="4645080" y="2788920"/>
            <a:ext cx="104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Pod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5989320" y="2743200"/>
            <a:ext cx="1188360" cy="822600"/>
          </a:xfrm>
          <a:prstGeom prst="roundRect">
            <a:avLst>
              <a:gd name="adj" fmla="val 13333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2"/>
          <p:cNvSpPr/>
          <p:nvPr/>
        </p:nvSpPr>
        <p:spPr>
          <a:xfrm>
            <a:off x="6062400" y="2788920"/>
            <a:ext cx="104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Pod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7406640" y="2743200"/>
            <a:ext cx="1188360" cy="822600"/>
          </a:xfrm>
          <a:prstGeom prst="roundRect">
            <a:avLst>
              <a:gd name="adj" fmla="val 13333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4"/>
          <p:cNvSpPr/>
          <p:nvPr/>
        </p:nvSpPr>
        <p:spPr>
          <a:xfrm>
            <a:off x="7479720" y="2788920"/>
            <a:ext cx="104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Pod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1280160" y="470916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Jeśli Pod zniknie, Deployment utworzy nowy.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56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57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Service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097280" y="16916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"/>
                <a:ea typeface="Aptos"/>
              </a:rPr>
              <a:t>Service daje stabilny dostęp do Podów.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1234440" y="2743200"/>
            <a:ext cx="2011320" cy="685440"/>
          </a:xfrm>
          <a:prstGeom prst="roundRect">
            <a:avLst>
              <a:gd name="adj" fmla="val 16000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7"/>
          <p:cNvSpPr/>
          <p:nvPr/>
        </p:nvSpPr>
        <p:spPr>
          <a:xfrm>
            <a:off x="1307520" y="2788920"/>
            <a:ext cx="1865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Client / QA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3429000" y="3081240"/>
            <a:ext cx="1188720" cy="360"/>
          </a:xfrm>
          <a:prstGeom prst="line">
            <a:avLst/>
          </a:prstGeom>
          <a:ln w="19050">
            <a:solidFill>
              <a:srgbClr val="f6e5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9"/>
          <p:cNvSpPr/>
          <p:nvPr/>
        </p:nvSpPr>
        <p:spPr>
          <a:xfrm>
            <a:off x="4800600" y="2743200"/>
            <a:ext cx="2011320" cy="685440"/>
          </a:xfrm>
          <a:prstGeom prst="roundRect">
            <a:avLst>
              <a:gd name="adj" fmla="val 16000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0"/>
          <p:cNvSpPr/>
          <p:nvPr/>
        </p:nvSpPr>
        <p:spPr>
          <a:xfrm>
            <a:off x="4873680" y="2788920"/>
            <a:ext cx="1865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Service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6995160" y="3081240"/>
            <a:ext cx="914400" cy="360"/>
          </a:xfrm>
          <a:prstGeom prst="line">
            <a:avLst/>
          </a:prstGeom>
          <a:ln w="19050">
            <a:solidFill>
              <a:srgbClr val="f6e5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2"/>
          <p:cNvSpPr/>
          <p:nvPr/>
        </p:nvSpPr>
        <p:spPr>
          <a:xfrm>
            <a:off x="8092440" y="2377440"/>
            <a:ext cx="2377080" cy="1416960"/>
          </a:xfrm>
          <a:prstGeom prst="roundRect">
            <a:avLst>
              <a:gd name="adj" fmla="val 7742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3"/>
          <p:cNvSpPr/>
          <p:nvPr/>
        </p:nvSpPr>
        <p:spPr>
          <a:xfrm>
            <a:off x="8165520" y="2423160"/>
            <a:ext cx="22309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ptos"/>
                <a:ea typeface="Aptos"/>
              </a:rPr>
              <a:t>Pods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1280160" y="48006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Pod może się zmienić. Service zostaje.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72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73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Namespace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1097280" y="16916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8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"/>
                <a:ea typeface="Aptos"/>
              </a:rPr>
              <a:t>Namespace izoluje zasoby w obrębie jednego klastra.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1417320" y="2743200"/>
            <a:ext cx="2468520" cy="1005480"/>
          </a:xfrm>
          <a:prstGeom prst="roundRect">
            <a:avLst>
              <a:gd name="adj" fmla="val 10909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7"/>
          <p:cNvSpPr/>
          <p:nvPr/>
        </p:nvSpPr>
        <p:spPr>
          <a:xfrm>
            <a:off x="1490400" y="2788920"/>
            <a:ext cx="232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dev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Pods • Services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4846320" y="2743200"/>
            <a:ext cx="2468520" cy="1005480"/>
          </a:xfrm>
          <a:prstGeom prst="roundRect">
            <a:avLst>
              <a:gd name="adj" fmla="val 10909"/>
            </a:avLst>
          </a:prstGeom>
          <a:solidFill>
            <a:srgbClr val="34477f"/>
          </a:solidFill>
          <a:ln w="17780">
            <a:solidFill>
              <a:srgbClr val="f6e5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9"/>
          <p:cNvSpPr/>
          <p:nvPr/>
        </p:nvSpPr>
        <p:spPr>
          <a:xfrm>
            <a:off x="4919400" y="2788920"/>
            <a:ext cx="232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qa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Pods • Services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8275320" y="2743200"/>
            <a:ext cx="2468520" cy="1005480"/>
          </a:xfrm>
          <a:prstGeom prst="roundRect">
            <a:avLst>
              <a:gd name="adj" fmla="val 10909"/>
            </a:avLst>
          </a:prstGeom>
          <a:solidFill>
            <a:srgbClr val="34477f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11"/>
          <p:cNvSpPr/>
          <p:nvPr/>
        </p:nvSpPr>
        <p:spPr>
          <a:xfrm>
            <a:off x="8348400" y="2788920"/>
            <a:ext cx="232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prod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  <a:ea typeface="Aptos"/>
              </a:rPr>
              <a:t>Pods • Services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85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86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kubectl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1097280" y="16916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"/>
                <a:ea typeface="Aptos"/>
              </a:rPr>
              <a:t>kubectl to klient CLI do rozmowy z API Serverem.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1874520" y="2651760"/>
            <a:ext cx="8412120" cy="1782720"/>
          </a:xfrm>
          <a:prstGeom prst="roundRect">
            <a:avLst>
              <a:gd name="adj" fmla="val 6154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7"/>
          <p:cNvSpPr/>
          <p:nvPr/>
        </p:nvSpPr>
        <p:spPr>
          <a:xfrm>
            <a:off x="2075760" y="2761560"/>
            <a:ext cx="8009640" cy="15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get nodes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get pods -A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logs &lt;pod-name&gt;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1280160" y="498348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  <a:ea typeface="Aptos"/>
              </a:rPr>
              <a:t>To będzie podstawowy zestaw komend diagnostycznych dla QA.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95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96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k3s na potrzeby labów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1005840" y="169164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  <a:ea typeface="Aptos"/>
              </a:rPr>
              <a:t>k3s to lekka dystrybucja Kubernetes — idealna do laboratoriów.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1417320" y="2743200"/>
            <a:ext cx="9417960" cy="1005480"/>
          </a:xfrm>
          <a:prstGeom prst="roundRect">
            <a:avLst>
              <a:gd name="adj" fmla="val 10909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7"/>
          <p:cNvSpPr/>
          <p:nvPr/>
        </p:nvSpPr>
        <p:spPr>
          <a:xfrm>
            <a:off x="1618560" y="2853000"/>
            <a:ext cx="90154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curl -sfL https://get.k3s.io | \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INSTALL_K3S_VERSION=v1.30.0+k3s1 sh -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204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05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kubeconfig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1005840" y="16916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"/>
                <a:ea typeface="Aptos"/>
              </a:rPr>
              <a:t>kubeconfig mówi kubectl, gdzie jest klaster i jak się do niego dostać.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1280160" y="2697480"/>
            <a:ext cx="9600840" cy="1828440"/>
          </a:xfrm>
          <a:prstGeom prst="roundRect">
            <a:avLst>
              <a:gd name="adj" fmla="val 6000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7"/>
          <p:cNvSpPr/>
          <p:nvPr/>
        </p:nvSpPr>
        <p:spPr>
          <a:xfrm>
            <a:off x="1481400" y="2807280"/>
            <a:ext cx="919836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mkdir -p ~/.kube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sudo cp /etc/rancher/k3s/k3s.yaml ~/.kube/config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sudo chown $USER:$USER ~/.kube/config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get nodes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213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14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CLI → YAML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1005840" y="169164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  <a:ea typeface="Aptos"/>
              </a:rPr>
              <a:t>Bardzo przydatny trik do nauki manifestów Kubernetes.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1325880" y="2697480"/>
            <a:ext cx="9509400" cy="1462680"/>
          </a:xfrm>
          <a:prstGeom prst="roundRect">
            <a:avLst>
              <a:gd name="adj" fmla="val 7500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7"/>
          <p:cNvSpPr/>
          <p:nvPr/>
        </p:nvSpPr>
        <p:spPr>
          <a:xfrm>
            <a:off x="1527120" y="2807280"/>
            <a:ext cx="91069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create deployment qa-web \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--image=nginx:1.27 \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--dry-run=client -o yaml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1280160" y="48920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Komenda pokazuje YAML, który można zapisać do repozytorium.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 w="12700">
            <a:solidFill>
              <a:srgbClr val="19223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"/>
          <p:cNvSpPr/>
          <p:nvPr/>
        </p:nvSpPr>
        <p:spPr>
          <a:xfrm>
            <a:off x="384120" y="155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9555480" y="155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223" name="Image 0" descr="/mnt/data/images.jpeg"/>
          <p:cNvPicPr/>
          <p:nvPr/>
        </p:nvPicPr>
        <p:blipFill>
          <a:blip r:embed="rId1"/>
          <a:stretch/>
        </p:blipFill>
        <p:spPr>
          <a:xfrm>
            <a:off x="11503080" y="64465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4" name="Shape 3"/>
          <p:cNvSpPr/>
          <p:nvPr/>
        </p:nvSpPr>
        <p:spPr>
          <a:xfrm>
            <a:off x="411480" y="6556320"/>
            <a:ext cx="10926720" cy="13320"/>
          </a:xfrm>
          <a:prstGeom prst="rect">
            <a:avLst/>
          </a:prstGeom>
          <a:solidFill>
            <a:srgbClr val="4d5f9a"/>
          </a:solidFill>
          <a:ln w="12700">
            <a:solidFill>
              <a:srgbClr val="4d5f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4"/>
          <p:cNvSpPr/>
          <p:nvPr/>
        </p:nvSpPr>
        <p:spPr>
          <a:xfrm>
            <a:off x="685800" y="685800"/>
            <a:ext cx="1083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6e540"/>
                </a:solidFill>
                <a:latin typeface="Aptos"/>
                <a:ea typeface="Aptos"/>
              </a:rPr>
              <a:t>Pierwsza weryfikacja klastra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1828800" y="1965960"/>
            <a:ext cx="8503560" cy="1828440"/>
          </a:xfrm>
          <a:prstGeom prst="roundRect">
            <a:avLst>
              <a:gd name="adj" fmla="val 6000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6"/>
          <p:cNvSpPr/>
          <p:nvPr/>
        </p:nvSpPr>
        <p:spPr>
          <a:xfrm>
            <a:off x="2030040" y="2075760"/>
            <a:ext cx="81010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get nodes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get pods -A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Courier New"/>
              </a:rPr>
              <a:t>kubectl version --client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Courier New"/>
              </a:rPr>
              <a:t>k3s --version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1280160" y="475488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Aptos"/>
                <a:ea typeface="Aptos"/>
              </a:rPr>
              <a:t>Po tym kroku przechodzimy do uruchamiania pierwszej aplikacji.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Inetum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2026-06-09T10:25:22Z</dcterms:created>
  <dc:creator>OpenAI</dc:creator>
  <dc:description/>
  <dc:language>pl-PL</dc:language>
  <cp:lastModifiedBy/>
  <dcterms:modified xsi:type="dcterms:W3CDTF">2026-06-09T22:17:08Z</dcterms:modified>
  <cp:revision>2</cp:revision>
  <dc:subject>Kubernetes for QA - Wprowadzenie do Kubernetes</dc:subject>
  <dc:title>Kubernetes for QA - Wprowadzenie do Kubernetes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